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/>
  <p:notesSz cx="6858000" cy="9144000"/>
  <p:embeddedFontLst>
    <p:embeddedFont>
      <p:font typeface="Funnel Display" pitchFamily="2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0454" y="1029646"/>
            <a:ext cx="8531831" cy="1645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</a:pPr>
            <a:r>
              <a:rPr sz="7200" b="1">
                <a:solidFill>
                  <a:srgbClr val="FFFFFF"/>
                </a:solidFill>
                <a:latin typeface="Funnel Display"/>
              </a:rPr>
              <a:t>The World of the</a:t>
            </a:r>
          </a:p>
          <a:p>
            <a:pPr algn="l">
              <a:lnSpc>
                <a:spcPct val="83333"/>
              </a:lnSpc>
              <a:spcBef>
                <a:spcPts val="0"/>
              </a:spcBef>
            </a:pPr>
            <a:r>
              <a:rPr sz="7200" b="1">
                <a:solidFill>
                  <a:srgbClr val="FFFFFF"/>
                </a:solidFill>
                <a:latin typeface="Funnel Display"/>
              </a:rPr>
              <a:t>Qubit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0945" y="3257550"/>
            <a:ext cx="6359440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Funnel Display"/>
              </a:rPr>
              <a:t>Understanding the fundamental building block of</a:t>
            </a:r>
          </a:p>
          <a:p>
            <a:pPr algn="l">
              <a:lnSpc>
                <a:spcPct val="100000"/>
              </a:lnSpc>
              <a:spcBef>
                <a:spcPts val="90"/>
              </a:spcBef>
            </a:pPr>
            <a:r>
              <a:rPr sz="1800" b="1">
                <a:solidFill>
                  <a:srgbClr val="FFFFFF"/>
                </a:solidFill>
                <a:latin typeface="Funnel Display"/>
              </a:rPr>
              <a:t>quantum computing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1475" y="2614612"/>
            <a:ext cx="4101722" cy="1473841"/>
          </a:xfrm>
          <a:custGeom>
            <a:avLst/>
            <a:gdLst/>
            <a:ahLst/>
            <a:cxnLst/>
            <a:rect l="0" t="0" r="0" b="0"/>
            <a:pathLst>
              <a:path w="4101722" h="1473841">
                <a:moveTo>
                  <a:pt x="4101722" y="1228201"/>
                </a:moveTo>
                <a:cubicBezTo>
                  <a:pt x="4101722" y="1363865"/>
                  <a:pt x="4050715" y="1473841"/>
                  <a:pt x="3987784" y="1473841"/>
                </a:cubicBezTo>
                <a:lnTo>
                  <a:pt x="113938" y="1473841"/>
                </a:lnTo>
                <a:cubicBezTo>
                  <a:pt x="51015" y="1473841"/>
                  <a:pt x="0" y="1363865"/>
                  <a:pt x="0" y="1228201"/>
                </a:cubicBezTo>
                <a:lnTo>
                  <a:pt x="0" y="245640"/>
                </a:lnTo>
                <a:cubicBezTo>
                  <a:pt x="0" y="109975"/>
                  <a:pt x="51015" y="0"/>
                  <a:pt x="113938" y="0"/>
                </a:cubicBezTo>
                <a:lnTo>
                  <a:pt x="3987784" y="0"/>
                </a:lnTo>
                <a:cubicBezTo>
                  <a:pt x="4050715" y="0"/>
                  <a:pt x="4101722" y="109975"/>
                  <a:pt x="4101722" y="245640"/>
                </a:cubicBezTo>
                <a:lnTo>
                  <a:pt x="4101722" y="1228201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1475" y="2614612"/>
            <a:ext cx="4101722" cy="1473842"/>
          </a:xfrm>
          <a:custGeom>
            <a:avLst/>
            <a:gdLst/>
            <a:ahLst/>
            <a:cxnLst/>
            <a:rect l="0" t="0" r="0" b="0"/>
            <a:pathLst>
              <a:path w="4101722" h="1473842">
                <a:moveTo>
                  <a:pt x="0" y="245640"/>
                </a:moveTo>
                <a:cubicBezTo>
                  <a:pt x="0" y="109977"/>
                  <a:pt x="51011" y="0"/>
                  <a:pt x="113936" y="0"/>
                </a:cubicBezTo>
                <a:moveTo>
                  <a:pt x="3987786" y="0"/>
                </a:moveTo>
                <a:lnTo>
                  <a:pt x="113936" y="0"/>
                </a:lnTo>
                <a:moveTo>
                  <a:pt x="4101722" y="245640"/>
                </a:moveTo>
                <a:cubicBezTo>
                  <a:pt x="4101722" y="109977"/>
                  <a:pt x="4050711" y="0"/>
                  <a:pt x="3987786" y="0"/>
                </a:cubicBezTo>
                <a:moveTo>
                  <a:pt x="4101722" y="1228202"/>
                </a:moveTo>
                <a:lnTo>
                  <a:pt x="4101722" y="245640"/>
                </a:lnTo>
                <a:moveTo>
                  <a:pt x="3987786" y="1473842"/>
                </a:moveTo>
                <a:cubicBezTo>
                  <a:pt x="4050711" y="1473842"/>
                  <a:pt x="4101722" y="1363865"/>
                  <a:pt x="4101722" y="1228202"/>
                </a:cubicBezTo>
                <a:moveTo>
                  <a:pt x="3987786" y="1473842"/>
                </a:moveTo>
                <a:lnTo>
                  <a:pt x="113936" y="1473842"/>
                </a:lnTo>
                <a:moveTo>
                  <a:pt x="113936" y="1473842"/>
                </a:moveTo>
                <a:cubicBezTo>
                  <a:pt x="51011" y="1473842"/>
                  <a:pt x="0" y="1363865"/>
                  <a:pt x="0" y="1228202"/>
                </a:cubicBezTo>
                <a:moveTo>
                  <a:pt x="0" y="1228202"/>
                </a:moveTo>
                <a:lnTo>
                  <a:pt x="0" y="245640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57725" y="2614612"/>
            <a:ext cx="4114800" cy="1443770"/>
          </a:xfrm>
          <a:custGeom>
            <a:avLst/>
            <a:gdLst/>
            <a:ahLst/>
            <a:cxnLst/>
            <a:rect l="0" t="0" r="0" b="0"/>
            <a:pathLst>
              <a:path w="4114800" h="1443770">
                <a:moveTo>
                  <a:pt x="4114800" y="1203140"/>
                </a:moveTo>
                <a:cubicBezTo>
                  <a:pt x="4114800" y="1336033"/>
                  <a:pt x="4063622" y="1443770"/>
                  <a:pt x="4000500" y="1443770"/>
                </a:cubicBezTo>
                <a:lnTo>
                  <a:pt x="114300" y="1443770"/>
                </a:lnTo>
                <a:cubicBezTo>
                  <a:pt x="51177" y="1443770"/>
                  <a:pt x="0" y="1336033"/>
                  <a:pt x="0" y="1203140"/>
                </a:cubicBezTo>
                <a:lnTo>
                  <a:pt x="0" y="240630"/>
                </a:lnTo>
                <a:cubicBezTo>
                  <a:pt x="0" y="107737"/>
                  <a:pt x="51177" y="0"/>
                  <a:pt x="114300" y="0"/>
                </a:cubicBezTo>
                <a:lnTo>
                  <a:pt x="4000500" y="0"/>
                </a:lnTo>
                <a:cubicBezTo>
                  <a:pt x="4063622" y="0"/>
                  <a:pt x="4114800" y="107737"/>
                  <a:pt x="4114800" y="240630"/>
                </a:cubicBezTo>
                <a:lnTo>
                  <a:pt x="4114800" y="120314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57725" y="2614612"/>
            <a:ext cx="4114800" cy="1443768"/>
          </a:xfrm>
          <a:custGeom>
            <a:avLst/>
            <a:gdLst/>
            <a:ahLst/>
            <a:cxnLst/>
            <a:rect l="0" t="0" r="0" b="0"/>
            <a:pathLst>
              <a:path w="4114800" h="1443768">
                <a:moveTo>
                  <a:pt x="0" y="240628"/>
                </a:moveTo>
                <a:cubicBezTo>
                  <a:pt x="0" y="107733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240628"/>
                </a:moveTo>
                <a:cubicBezTo>
                  <a:pt x="4114800" y="107733"/>
                  <a:pt x="4063626" y="0"/>
                  <a:pt x="4000500" y="0"/>
                </a:cubicBezTo>
                <a:moveTo>
                  <a:pt x="4114800" y="1203140"/>
                </a:moveTo>
                <a:lnTo>
                  <a:pt x="4114800" y="240628"/>
                </a:lnTo>
                <a:moveTo>
                  <a:pt x="4000500" y="1443768"/>
                </a:moveTo>
                <a:cubicBezTo>
                  <a:pt x="4063626" y="1443768"/>
                  <a:pt x="4114800" y="1336035"/>
                  <a:pt x="4114800" y="1203140"/>
                </a:cubicBezTo>
                <a:moveTo>
                  <a:pt x="4000500" y="1443768"/>
                </a:moveTo>
                <a:lnTo>
                  <a:pt x="114300" y="1443768"/>
                </a:lnTo>
                <a:moveTo>
                  <a:pt x="114300" y="1443768"/>
                </a:moveTo>
                <a:cubicBezTo>
                  <a:pt x="51174" y="1443768"/>
                  <a:pt x="0" y="1336035"/>
                  <a:pt x="0" y="1203140"/>
                </a:cubicBezTo>
                <a:moveTo>
                  <a:pt x="0" y="1203140"/>
                </a:moveTo>
                <a:lnTo>
                  <a:pt x="0" y="240628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7604" y="972230"/>
            <a:ext cx="3150681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"/>
              </a:rPr>
              <a:t>Bits vs. Qubits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632" y="2937152"/>
            <a:ext cx="3856507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Classical Bit: Binary state (0 or 1),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deterministic, and the foundation of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traditional computing.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375" y="2921025"/>
            <a:ext cx="4162425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Qubit: Quantum state (superposition),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probabilistic, and the fundamental unit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of quantum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26176" r="26176"/>
          <a:stretch>
            <a:fillRect/>
          </a:stretch>
        </p:blipFill>
        <p:spPr>
          <a:xfrm>
            <a:off x="0" y="0"/>
            <a:ext cx="4391025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72025" y="1178866"/>
            <a:ext cx="4429302" cy="772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8365"/>
              </a:lnSpc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Funnel Display"/>
              </a:rPr>
              <a:t>Superposition: Being in</a:t>
            </a:r>
          </a:p>
          <a:p>
            <a:pPr algn="l">
              <a:lnSpc>
                <a:spcPct val="98365"/>
              </a:lnSpc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Funnel Display"/>
              </a:rPr>
              <a:t>Two States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2025" y="2180457"/>
            <a:ext cx="357092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The power of "and" instead of "or"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2025" y="2637661"/>
            <a:ext cx="4192657" cy="1333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Superposition allows a qubit to be in a combination of</a:t>
            </a:r>
          </a:p>
          <a:p>
            <a:pPr algn="l">
              <a:lnSpc>
                <a:spcPct val="100000"/>
              </a:lnSpc>
              <a:spcBef>
                <a:spcPts val="179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states simultaneously. It's not just "somewhere in</a:t>
            </a:r>
          </a:p>
          <a:p>
            <a:pPr algn="l">
              <a:lnSpc>
                <a:spcPct val="100000"/>
              </a:lnSpc>
              <a:spcBef>
                <a:spcPts val="180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between"; it's a mathematical probability of being in</a:t>
            </a:r>
          </a:p>
          <a:p>
            <a:pPr algn="l">
              <a:lnSpc>
                <a:spcPct val="100000"/>
              </a:lnSpc>
              <a:spcBef>
                <a:spcPts val="180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either state until measured.</a:t>
            </a:r>
          </a:p>
          <a:p>
            <a:pPr algn="l">
              <a:lnSpc>
                <a:spcPct val="100000"/>
              </a:lnSpc>
              <a:spcBef>
                <a:spcPts val="180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• The spinning coin analogy: While spinning, it's both</a:t>
            </a:r>
          </a:p>
          <a:p>
            <a:pPr algn="l">
              <a:lnSpc>
                <a:spcPct val="100000"/>
              </a:lnSpc>
              <a:spcBef>
                <a:spcPts val="180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heads and tails</a:t>
            </a:r>
          </a:p>
          <a:p>
            <a:pPr algn="l">
              <a:lnSpc>
                <a:spcPct val="100000"/>
              </a:lnSpc>
              <a:spcBef>
                <a:spcPts val="180"/>
              </a:spcBef>
            </a:pPr>
            <a:r>
              <a:rPr sz="1100" b="0">
                <a:solidFill>
                  <a:srgbClr val="FFFFFF"/>
                </a:solidFill>
                <a:latin typeface="Funnel Display"/>
              </a:rPr>
              <a:t>• Enables parallel processing of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97888" y="2903389"/>
            <a:ext cx="799504" cy="799504"/>
          </a:xfrm>
          <a:custGeom>
            <a:avLst/>
            <a:gdLst/>
            <a:ahLst/>
            <a:cxnLst/>
            <a:rect l="0" t="0" r="0" b="0"/>
            <a:pathLst>
              <a:path w="799504" h="799504">
                <a:moveTo>
                  <a:pt x="799504" y="799504"/>
                </a:moveTo>
                <a:cubicBezTo>
                  <a:pt x="357950" y="799504"/>
                  <a:pt x="0" y="441553"/>
                  <a:pt x="0" y="0"/>
                </a:cubicBezTo>
              </a:path>
            </a:pathLst>
          </a:custGeom>
          <a:noFill/>
          <a:ln w="166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72904" y="2878404"/>
            <a:ext cx="49968" cy="49968"/>
          </a:xfrm>
          <a:custGeom>
            <a:avLst/>
            <a:gdLst/>
            <a:ahLst/>
            <a:cxnLst/>
            <a:rect l="0" t="0" r="0" b="0"/>
            <a:pathLst>
              <a:path w="49968" h="49968">
                <a:moveTo>
                  <a:pt x="24984" y="49968"/>
                </a:moveTo>
                <a:cubicBezTo>
                  <a:pt x="11182" y="49968"/>
                  <a:pt x="0" y="38785"/>
                  <a:pt x="0" y="24984"/>
                </a:cubicBezTo>
                <a:cubicBezTo>
                  <a:pt x="0" y="11182"/>
                  <a:pt x="11182" y="0"/>
                  <a:pt x="24984" y="0"/>
                </a:cubicBezTo>
                <a:cubicBezTo>
                  <a:pt x="38785" y="0"/>
                  <a:pt x="49968" y="11182"/>
                  <a:pt x="49968" y="24984"/>
                </a:cubicBezTo>
                <a:cubicBezTo>
                  <a:pt x="49968" y="38785"/>
                  <a:pt x="38785" y="49968"/>
                  <a:pt x="24984" y="49968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72904" y="2878404"/>
            <a:ext cx="49969" cy="49969"/>
          </a:xfrm>
          <a:custGeom>
            <a:avLst/>
            <a:gdLst/>
            <a:ahLst/>
            <a:cxnLst/>
            <a:rect l="0" t="0" r="0" b="0"/>
            <a:pathLst>
              <a:path w="49969" h="49969">
                <a:moveTo>
                  <a:pt x="24984" y="49969"/>
                </a:moveTo>
                <a:cubicBezTo>
                  <a:pt x="11185" y="49969"/>
                  <a:pt x="0" y="38783"/>
                  <a:pt x="0" y="24984"/>
                </a:cubicBezTo>
                <a:cubicBezTo>
                  <a:pt x="0" y="11185"/>
                  <a:pt x="11185" y="0"/>
                  <a:pt x="24984" y="0"/>
                </a:cubicBezTo>
                <a:cubicBezTo>
                  <a:pt x="38783" y="0"/>
                  <a:pt x="49969" y="11185"/>
                  <a:pt x="49969" y="24984"/>
                </a:cubicBezTo>
                <a:cubicBezTo>
                  <a:pt x="49969" y="38783"/>
                  <a:pt x="38783" y="49969"/>
                  <a:pt x="24984" y="49969"/>
                </a:cubicBezTo>
                <a:close/>
              </a:path>
            </a:pathLst>
          </a:custGeom>
          <a:noFill/>
          <a:ln w="1665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7392" y="2903389"/>
            <a:ext cx="799504" cy="799504"/>
          </a:xfrm>
          <a:custGeom>
            <a:avLst/>
            <a:gdLst/>
            <a:ahLst/>
            <a:cxnLst/>
            <a:rect l="0" t="0" r="0" b="0"/>
            <a:pathLst>
              <a:path w="799504" h="799504">
                <a:moveTo>
                  <a:pt x="799504" y="0"/>
                </a:moveTo>
                <a:cubicBezTo>
                  <a:pt x="799504" y="441553"/>
                  <a:pt x="441553" y="799504"/>
                  <a:pt x="0" y="799504"/>
                </a:cubicBezTo>
              </a:path>
            </a:pathLst>
          </a:custGeom>
          <a:noFill/>
          <a:ln w="166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2399" y="3677909"/>
            <a:ext cx="49968" cy="49968"/>
          </a:xfrm>
          <a:custGeom>
            <a:avLst/>
            <a:gdLst/>
            <a:ahLst/>
            <a:cxnLst/>
            <a:rect l="0" t="0" r="0" b="0"/>
            <a:pathLst>
              <a:path w="49968" h="49968">
                <a:moveTo>
                  <a:pt x="0" y="24984"/>
                </a:moveTo>
                <a:cubicBezTo>
                  <a:pt x="0" y="38785"/>
                  <a:pt x="11182" y="49968"/>
                  <a:pt x="24984" y="49968"/>
                </a:cubicBezTo>
                <a:cubicBezTo>
                  <a:pt x="38785" y="49968"/>
                  <a:pt x="49968" y="38785"/>
                  <a:pt x="49968" y="24984"/>
                </a:cubicBezTo>
                <a:cubicBezTo>
                  <a:pt x="49968" y="11182"/>
                  <a:pt x="38785" y="0"/>
                  <a:pt x="24984" y="0"/>
                </a:cubicBezTo>
                <a:cubicBezTo>
                  <a:pt x="11182" y="0"/>
                  <a:pt x="0" y="11182"/>
                  <a:pt x="0" y="24984"/>
                </a:cubicBez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72399" y="3677909"/>
            <a:ext cx="49969" cy="49969"/>
          </a:xfrm>
          <a:custGeom>
            <a:avLst/>
            <a:gdLst/>
            <a:ahLst/>
            <a:cxnLst/>
            <a:rect l="0" t="0" r="0" b="0"/>
            <a:pathLst>
              <a:path w="49969" h="49969">
                <a:moveTo>
                  <a:pt x="0" y="24984"/>
                </a:moveTo>
                <a:cubicBezTo>
                  <a:pt x="0" y="38783"/>
                  <a:pt x="11185" y="49969"/>
                  <a:pt x="24984" y="49969"/>
                </a:cubicBezTo>
                <a:cubicBezTo>
                  <a:pt x="38783" y="49969"/>
                  <a:pt x="49969" y="38783"/>
                  <a:pt x="49969" y="24984"/>
                </a:cubicBezTo>
                <a:cubicBezTo>
                  <a:pt x="49969" y="11185"/>
                  <a:pt x="38783" y="0"/>
                  <a:pt x="24984" y="0"/>
                </a:cubicBezTo>
                <a:cubicBezTo>
                  <a:pt x="11185" y="0"/>
                  <a:pt x="0" y="11185"/>
                  <a:pt x="0" y="24984"/>
                </a:cubicBezTo>
              </a:path>
            </a:pathLst>
          </a:custGeom>
          <a:noFill/>
          <a:ln w="1665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7392" y="2103884"/>
            <a:ext cx="799504" cy="799504"/>
          </a:xfrm>
          <a:custGeom>
            <a:avLst/>
            <a:gdLst/>
            <a:ahLst/>
            <a:cxnLst/>
            <a:rect l="0" t="0" r="0" b="0"/>
            <a:pathLst>
              <a:path w="799504" h="799504">
                <a:moveTo>
                  <a:pt x="799504" y="799504"/>
                </a:moveTo>
                <a:cubicBezTo>
                  <a:pt x="799504" y="357950"/>
                  <a:pt x="441553" y="0"/>
                  <a:pt x="0" y="0"/>
                </a:cubicBezTo>
              </a:path>
            </a:pathLst>
          </a:custGeom>
          <a:noFill/>
          <a:ln w="166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71913" y="2878404"/>
            <a:ext cx="49968" cy="49968"/>
          </a:xfrm>
          <a:custGeom>
            <a:avLst/>
            <a:gdLst/>
            <a:ahLst/>
            <a:cxnLst/>
            <a:rect l="0" t="0" r="0" b="0"/>
            <a:pathLst>
              <a:path w="49968" h="49968">
                <a:moveTo>
                  <a:pt x="24984" y="49968"/>
                </a:moveTo>
                <a:cubicBezTo>
                  <a:pt x="11182" y="49968"/>
                  <a:pt x="0" y="38785"/>
                  <a:pt x="0" y="24984"/>
                </a:cubicBezTo>
                <a:cubicBezTo>
                  <a:pt x="0" y="11182"/>
                  <a:pt x="11182" y="0"/>
                  <a:pt x="24984" y="0"/>
                </a:cubicBezTo>
                <a:cubicBezTo>
                  <a:pt x="38785" y="0"/>
                  <a:pt x="49968" y="11182"/>
                  <a:pt x="49968" y="24984"/>
                </a:cubicBezTo>
                <a:cubicBezTo>
                  <a:pt x="49968" y="38785"/>
                  <a:pt x="38785" y="49968"/>
                  <a:pt x="24984" y="49968"/>
                </a:cubicBez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71913" y="2878404"/>
            <a:ext cx="49969" cy="49969"/>
          </a:xfrm>
          <a:custGeom>
            <a:avLst/>
            <a:gdLst/>
            <a:ahLst/>
            <a:cxnLst/>
            <a:rect l="0" t="0" r="0" b="0"/>
            <a:pathLst>
              <a:path w="49969" h="49969">
                <a:moveTo>
                  <a:pt x="24984" y="49969"/>
                </a:moveTo>
                <a:cubicBezTo>
                  <a:pt x="11185" y="49969"/>
                  <a:pt x="0" y="38783"/>
                  <a:pt x="0" y="24984"/>
                </a:cubicBezTo>
                <a:cubicBezTo>
                  <a:pt x="0" y="11185"/>
                  <a:pt x="11185" y="0"/>
                  <a:pt x="24984" y="0"/>
                </a:cubicBezTo>
                <a:cubicBezTo>
                  <a:pt x="38783" y="0"/>
                  <a:pt x="49969" y="11185"/>
                  <a:pt x="49969" y="24984"/>
                </a:cubicBezTo>
                <a:cubicBezTo>
                  <a:pt x="49969" y="38783"/>
                  <a:pt x="38783" y="49969"/>
                  <a:pt x="24984" y="49969"/>
                </a:cubicBezTo>
                <a:close/>
              </a:path>
            </a:pathLst>
          </a:custGeom>
          <a:noFill/>
          <a:ln w="1665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97888" y="2103884"/>
            <a:ext cx="799504" cy="799504"/>
          </a:xfrm>
          <a:custGeom>
            <a:avLst/>
            <a:gdLst/>
            <a:ahLst/>
            <a:cxnLst/>
            <a:rect l="0" t="0" r="0" b="0"/>
            <a:pathLst>
              <a:path w="799504" h="799504">
                <a:moveTo>
                  <a:pt x="0" y="799504"/>
                </a:moveTo>
                <a:cubicBezTo>
                  <a:pt x="0" y="357950"/>
                  <a:pt x="357950" y="0"/>
                  <a:pt x="799504" y="0"/>
                </a:cubicBezTo>
              </a:path>
            </a:pathLst>
          </a:custGeom>
          <a:noFill/>
          <a:ln w="166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2408" y="2078899"/>
            <a:ext cx="49968" cy="49968"/>
          </a:xfrm>
          <a:custGeom>
            <a:avLst/>
            <a:gdLst/>
            <a:ahLst/>
            <a:cxnLst/>
            <a:rect l="0" t="0" r="0" b="0"/>
            <a:pathLst>
              <a:path w="49968" h="49968">
                <a:moveTo>
                  <a:pt x="0" y="24984"/>
                </a:moveTo>
                <a:cubicBezTo>
                  <a:pt x="0" y="38785"/>
                  <a:pt x="11182" y="49968"/>
                  <a:pt x="24984" y="49968"/>
                </a:cubicBezTo>
                <a:cubicBezTo>
                  <a:pt x="38785" y="49968"/>
                  <a:pt x="49968" y="38785"/>
                  <a:pt x="49968" y="24984"/>
                </a:cubicBezTo>
                <a:cubicBezTo>
                  <a:pt x="49968" y="11182"/>
                  <a:pt x="38785" y="0"/>
                  <a:pt x="24984" y="0"/>
                </a:cubicBezTo>
                <a:cubicBezTo>
                  <a:pt x="11182" y="0"/>
                  <a:pt x="0" y="11182"/>
                  <a:pt x="0" y="24984"/>
                </a:cubicBez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2408" y="2078899"/>
            <a:ext cx="49969" cy="49969"/>
          </a:xfrm>
          <a:custGeom>
            <a:avLst/>
            <a:gdLst/>
            <a:ahLst/>
            <a:cxnLst/>
            <a:rect l="0" t="0" r="0" b="0"/>
            <a:pathLst>
              <a:path w="49969" h="49969">
                <a:moveTo>
                  <a:pt x="0" y="24984"/>
                </a:moveTo>
                <a:cubicBezTo>
                  <a:pt x="0" y="38783"/>
                  <a:pt x="11185" y="49969"/>
                  <a:pt x="24984" y="49969"/>
                </a:cubicBezTo>
                <a:cubicBezTo>
                  <a:pt x="38783" y="49969"/>
                  <a:pt x="49969" y="38783"/>
                  <a:pt x="49969" y="24984"/>
                </a:cubicBezTo>
                <a:cubicBezTo>
                  <a:pt x="49969" y="11185"/>
                  <a:pt x="38783" y="0"/>
                  <a:pt x="24984" y="0"/>
                </a:cubicBezTo>
                <a:cubicBezTo>
                  <a:pt x="11185" y="0"/>
                  <a:pt x="0" y="11185"/>
                  <a:pt x="0" y="24984"/>
                </a:cubicBezTo>
              </a:path>
            </a:pathLst>
          </a:custGeom>
          <a:noFill/>
          <a:ln w="16659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5064" y="436486"/>
            <a:ext cx="386381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Funnel Display"/>
              </a:rPr>
              <a:t>The Bloch 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4186" y="2270491"/>
            <a:ext cx="1004775" cy="3997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Funnel Display"/>
              </a:rPr>
              <a:t>Phase and</a:t>
            </a:r>
          </a:p>
          <a:p>
            <a:pPr algn="r">
              <a:lnSpc>
                <a:spcPct val="100000"/>
              </a:lnSpc>
              <a:spcBef>
                <a:spcPts val="133"/>
              </a:spcBef>
            </a:pPr>
            <a:r>
              <a:rPr sz="1200" b="1">
                <a:solidFill>
                  <a:srgbClr val="FFFFFF"/>
                </a:solidFill>
                <a:latin typeface="Funnel Display"/>
              </a:rPr>
              <a:t>Probability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7948" y="2770271"/>
            <a:ext cx="1781013" cy="6659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The latitude and longitude</a:t>
            </a:r>
          </a:p>
          <a:p>
            <a:pPr algn="r">
              <a:lnSpc>
                <a:spcPct val="100000"/>
              </a:lnSpc>
              <a:spcBef>
                <a:spcPts val="231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represent the quantum</a:t>
            </a:r>
          </a:p>
          <a:p>
            <a:pPr algn="r">
              <a:lnSpc>
                <a:spcPct val="100000"/>
              </a:lnSpc>
              <a:spcBef>
                <a:spcPts val="23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phase and probability</a:t>
            </a:r>
          </a:p>
          <a:p>
            <a:pPr algn="r">
              <a:lnSpc>
                <a:spcPct val="100000"/>
              </a:lnSpc>
              <a:spcBef>
                <a:spcPts val="23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amplitudes.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4830" y="3902771"/>
            <a:ext cx="1145115" cy="19987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unnel Display"/>
              </a:rPr>
              <a:t>State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2418" y="4202695"/>
            <a:ext cx="1769950" cy="6659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The state of a qubit is</a:t>
            </a:r>
          </a:p>
          <a:p>
            <a:pPr algn="ctr">
              <a:lnSpc>
                <a:spcPct val="100000"/>
              </a:lnSpc>
              <a:spcBef>
                <a:spcPts val="231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represented as a vector</a:t>
            </a:r>
          </a:p>
          <a:p>
            <a:pPr algn="ctr">
              <a:lnSpc>
                <a:spcPct val="100000"/>
              </a:lnSpc>
              <a:spcBef>
                <a:spcPts val="23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from the center to a point</a:t>
            </a:r>
          </a:p>
          <a:p>
            <a:pPr algn="ctr">
              <a:lnSpc>
                <a:spcPct val="100000"/>
              </a:lnSpc>
              <a:spcBef>
                <a:spcPts val="23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on the sphere.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5823" y="2536971"/>
            <a:ext cx="1287853" cy="19987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Funnel Display"/>
              </a:rPr>
              <a:t>Qubit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5823" y="2836820"/>
            <a:ext cx="1916906" cy="3330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A qubit can be anywhere on</a:t>
            </a:r>
          </a:p>
          <a:p>
            <a:pPr algn="l">
              <a:lnSpc>
                <a:spcPct val="100000"/>
              </a:lnSpc>
              <a:spcBef>
                <a:spcPts val="23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the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2149" y="1171172"/>
            <a:ext cx="790488" cy="19987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Funnel Display"/>
              </a:rPr>
              <a:t>Bit Poles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0868" y="1471020"/>
            <a:ext cx="1613060" cy="3330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A bit is just the north or</a:t>
            </a:r>
          </a:p>
          <a:p>
            <a:pPr algn="ctr">
              <a:lnSpc>
                <a:spcPct val="100000"/>
              </a:lnSpc>
              <a:spcBef>
                <a:spcPts val="230"/>
              </a:spcBef>
            </a:pPr>
            <a:r>
              <a:rPr sz="900" b="0">
                <a:solidFill>
                  <a:srgbClr val="FFFFFF"/>
                </a:solidFill>
                <a:latin typeface="Funnel Display"/>
              </a:rPr>
              <a:t>south pole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2050" y="2628046"/>
            <a:ext cx="550683" cy="550683"/>
          </a:xfrm>
          <a:custGeom>
            <a:avLst/>
            <a:gdLst/>
            <a:ahLst/>
            <a:cxnLst/>
            <a:rect l="0" t="0" r="0" b="0"/>
            <a:pathLst>
              <a:path w="550683" h="550683">
                <a:moveTo>
                  <a:pt x="275341" y="550683"/>
                </a:moveTo>
                <a:cubicBezTo>
                  <a:pt x="427410" y="550683"/>
                  <a:pt x="550683" y="427410"/>
                  <a:pt x="550683" y="275341"/>
                </a:cubicBezTo>
                <a:cubicBezTo>
                  <a:pt x="550683" y="123274"/>
                  <a:pt x="427410" y="0"/>
                  <a:pt x="275341" y="0"/>
                </a:cubicBezTo>
                <a:cubicBezTo>
                  <a:pt x="123274" y="0"/>
                  <a:pt x="0" y="123274"/>
                  <a:pt x="0" y="275341"/>
                </a:cubicBezTo>
                <a:cubicBezTo>
                  <a:pt x="0" y="427410"/>
                  <a:pt x="123274" y="550683"/>
                  <a:pt x="275341" y="550683"/>
                </a:cubicBezTo>
                <a:close/>
                <a:moveTo>
                  <a:pt x="275341" y="385746"/>
                </a:moveTo>
                <a:cubicBezTo>
                  <a:pt x="123274" y="385746"/>
                  <a:pt x="0" y="336316"/>
                  <a:pt x="0" y="275341"/>
                </a:cubicBezTo>
                <a:cubicBezTo>
                  <a:pt x="0" y="214366"/>
                  <a:pt x="123274" y="164936"/>
                  <a:pt x="275341" y="164936"/>
                </a:cubicBezTo>
                <a:cubicBezTo>
                  <a:pt x="427410" y="164936"/>
                  <a:pt x="550683" y="214366"/>
                  <a:pt x="550683" y="275341"/>
                </a:cubicBezTo>
                <a:cubicBezTo>
                  <a:pt x="550683" y="336316"/>
                  <a:pt x="427410" y="385746"/>
                  <a:pt x="275341" y="385746"/>
                </a:cubicBezTo>
                <a:close/>
              </a:path>
            </a:pathLst>
          </a:custGeom>
          <a:noFill/>
          <a:ln w="1665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86700" y="4829134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7643" r="7643"/>
          <a:stretch>
            <a:fillRect/>
          </a:stretch>
        </p:blipFill>
        <p:spPr>
          <a:xfrm>
            <a:off x="0" y="0"/>
            <a:ext cx="4467225" cy="29432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1371638"/>
            <a:ext cx="4264086" cy="1127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4677"/>
              </a:lnSpc>
              <a:spcBef>
                <a:spcPts val="0"/>
              </a:spcBef>
            </a:pPr>
            <a:r>
              <a:rPr sz="3100" b="1">
                <a:solidFill>
                  <a:srgbClr val="FFFFFF"/>
                </a:solidFill>
                <a:latin typeface="Funnel Display"/>
              </a:rPr>
              <a:t>Entanglement:</a:t>
            </a:r>
          </a:p>
          <a:p>
            <a:pPr algn="l">
              <a:lnSpc>
                <a:spcPct val="84677"/>
              </a:lnSpc>
              <a:spcBef>
                <a:spcPts val="0"/>
              </a:spcBef>
            </a:pPr>
            <a:r>
              <a:rPr sz="3100" b="1">
                <a:solidFill>
                  <a:srgbClr val="FFFFFF"/>
                </a:solidFill>
                <a:latin typeface="Funnel Display"/>
              </a:rPr>
              <a:t>Spooky Action at a</a:t>
            </a:r>
          </a:p>
          <a:p>
            <a:pPr algn="l">
              <a:lnSpc>
                <a:spcPct val="84677"/>
              </a:lnSpc>
              <a:spcBef>
                <a:spcPts val="0"/>
              </a:spcBef>
            </a:pPr>
            <a:r>
              <a:rPr sz="3100" b="1">
                <a:solidFill>
                  <a:srgbClr val="FFFFFF"/>
                </a:solidFill>
                <a:latin typeface="Funnel Display"/>
              </a:rPr>
              <a:t>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714625"/>
            <a:ext cx="391276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Linking qubits together across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409950"/>
            <a:ext cx="151526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Entanglement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8025" y="3409950"/>
            <a:ext cx="1967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Perfect 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5525" y="3409950"/>
            <a:ext cx="1619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The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8025" y="3724275"/>
            <a:ext cx="275634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Funnel Display"/>
              </a:rPr>
              <a:t>Perfect correlation between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5525" y="3724275"/>
            <a:ext cx="2450440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The foundation for quantum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communication and complex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calculations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525" y="3724275"/>
            <a:ext cx="2954313" cy="952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Entanglement is a unique quantum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link where the state of one qubit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instantly determines the state of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another, no matter how far apart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they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40188" y="2618575"/>
            <a:ext cx="4463621" cy="1116606"/>
          </a:xfrm>
          <a:custGeom>
            <a:avLst/>
            <a:gdLst/>
            <a:ahLst/>
            <a:cxnLst/>
            <a:rect l="0" t="0" r="0" b="0"/>
            <a:pathLst>
              <a:path w="4463621" h="1116606">
                <a:moveTo>
                  <a:pt x="1113801" y="598182"/>
                </a:moveTo>
                <a:cubicBezTo>
                  <a:pt x="1093354" y="887912"/>
                  <a:pt x="851834" y="1116606"/>
                  <a:pt x="556900" y="1116606"/>
                </a:cubicBezTo>
                <a:cubicBezTo>
                  <a:pt x="261967" y="1116606"/>
                  <a:pt x="20447" y="887912"/>
                  <a:pt x="0" y="598182"/>
                </a:cubicBezTo>
                <a:moveTo>
                  <a:pt x="2230408" y="518424"/>
                </a:moveTo>
                <a:cubicBezTo>
                  <a:pt x="2209961" y="228693"/>
                  <a:pt x="1968441" y="0"/>
                  <a:pt x="1673507" y="0"/>
                </a:cubicBezTo>
                <a:cubicBezTo>
                  <a:pt x="1378573" y="0"/>
                  <a:pt x="1137054" y="228693"/>
                  <a:pt x="1116606" y="518424"/>
                </a:cubicBezTo>
                <a:moveTo>
                  <a:pt x="3347015" y="598182"/>
                </a:moveTo>
                <a:cubicBezTo>
                  <a:pt x="3326567" y="887912"/>
                  <a:pt x="3085047" y="1116606"/>
                  <a:pt x="2790114" y="1116606"/>
                </a:cubicBezTo>
                <a:cubicBezTo>
                  <a:pt x="2495180" y="1116606"/>
                  <a:pt x="2253661" y="887912"/>
                  <a:pt x="2233213" y="598182"/>
                </a:cubicBezTo>
                <a:moveTo>
                  <a:pt x="4463621" y="518424"/>
                </a:moveTo>
                <a:cubicBezTo>
                  <a:pt x="4443174" y="228693"/>
                  <a:pt x="4201654" y="0"/>
                  <a:pt x="3906720" y="0"/>
                </a:cubicBezTo>
                <a:cubicBezTo>
                  <a:pt x="3611786" y="0"/>
                  <a:pt x="3370267" y="228693"/>
                  <a:pt x="3349819" y="518424"/>
                </a:cubicBezTo>
              </a:path>
            </a:pathLst>
          </a:custGeom>
          <a:noFill/>
          <a:ln w="13296">
            <a:solidFill>
              <a:srgbClr val="FFFFF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2298907" y="2239726"/>
            <a:ext cx="1036853" cy="1375819"/>
            <a:chOff x="2298907" y="2239726"/>
            <a:chExt cx="1036853" cy="1375819"/>
          </a:xfrm>
        </p:grpSpPr>
        <p:sp>
          <p:nvSpPr>
            <p:cNvPr id="3" name="Rounded Rectangle 2"/>
            <p:cNvSpPr/>
            <p:nvPr/>
          </p:nvSpPr>
          <p:spPr>
            <a:xfrm>
              <a:off x="2298907" y="2738207"/>
              <a:ext cx="1036853" cy="877338"/>
            </a:xfrm>
            <a:custGeom>
              <a:avLst/>
              <a:gdLst/>
              <a:ahLst/>
              <a:cxnLst/>
              <a:rect l="0" t="0" r="0" b="0"/>
              <a:pathLst>
                <a:path w="1036853" h="877338">
                  <a:moveTo>
                    <a:pt x="159515" y="438673"/>
                  </a:moveTo>
                  <a:cubicBezTo>
                    <a:pt x="159515" y="680942"/>
                    <a:pt x="355911" y="877338"/>
                    <a:pt x="598179" y="877338"/>
                  </a:cubicBezTo>
                  <a:cubicBezTo>
                    <a:pt x="840447" y="877338"/>
                    <a:pt x="1036853" y="680942"/>
                    <a:pt x="1036853" y="438673"/>
                  </a:cubicBezTo>
                  <a:cubicBezTo>
                    <a:pt x="1036853" y="196405"/>
                    <a:pt x="840447" y="0"/>
                    <a:pt x="598179" y="0"/>
                  </a:cubicBezTo>
                  <a:cubicBezTo>
                    <a:pt x="355911" y="0"/>
                    <a:pt x="159515" y="196405"/>
                    <a:pt x="159515" y="438673"/>
                  </a:cubicBezTo>
                  <a:moveTo>
                    <a:pt x="0" y="438673"/>
                  </a:moveTo>
                  <a:cubicBezTo>
                    <a:pt x="0" y="460695"/>
                    <a:pt x="17849" y="478545"/>
                    <a:pt x="39881" y="478545"/>
                  </a:cubicBezTo>
                  <a:cubicBezTo>
                    <a:pt x="61902" y="478545"/>
                    <a:pt x="79762" y="460695"/>
                    <a:pt x="79762" y="438673"/>
                  </a:cubicBezTo>
                  <a:cubicBezTo>
                    <a:pt x="79762" y="416642"/>
                    <a:pt x="61902" y="398792"/>
                    <a:pt x="39881" y="398792"/>
                  </a:cubicBezTo>
                  <a:cubicBezTo>
                    <a:pt x="17849" y="398792"/>
                    <a:pt x="0" y="416642"/>
                    <a:pt x="0" y="438673"/>
                  </a:cubicBezTo>
                </a:path>
              </a:pathLst>
            </a:custGeom>
            <a:solidFill>
              <a:srgbClr val="7E56FF">
                <a:alpha val="4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837270" y="2239726"/>
              <a:ext cx="119634" cy="119634"/>
            </a:xfrm>
            <a:custGeom>
              <a:avLst/>
              <a:gdLst/>
              <a:ahLst/>
              <a:cxnLst/>
              <a:rect l="0" t="0" r="0" b="0"/>
              <a:pathLst>
                <a:path w="119634" h="119634">
                  <a:moveTo>
                    <a:pt x="119634" y="59817"/>
                  </a:moveTo>
                  <a:cubicBezTo>
                    <a:pt x="119634" y="92859"/>
                    <a:pt x="92859" y="119634"/>
                    <a:pt x="59816" y="119634"/>
                  </a:cubicBezTo>
                  <a:cubicBezTo>
                    <a:pt x="26784" y="119634"/>
                    <a:pt x="0" y="92859"/>
                    <a:pt x="0" y="59817"/>
                  </a:cubicBezTo>
                  <a:cubicBezTo>
                    <a:pt x="0" y="26784"/>
                    <a:pt x="26784" y="0"/>
                    <a:pt x="59816" y="0"/>
                  </a:cubicBezTo>
                  <a:cubicBezTo>
                    <a:pt x="92859" y="0"/>
                    <a:pt x="119634" y="26784"/>
                    <a:pt x="119634" y="59817"/>
                  </a:cubicBezTo>
                </a:path>
              </a:pathLst>
            </a:custGeom>
            <a:solidFill>
              <a:srgbClr val="7E56FF">
                <a:alpha val="4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298907" y="2239726"/>
            <a:ext cx="1036848" cy="1375818"/>
            <a:chOff x="2298907" y="2239726"/>
            <a:chExt cx="1036848" cy="1375818"/>
          </a:xfrm>
        </p:grpSpPr>
        <p:sp>
          <p:nvSpPr>
            <p:cNvPr id="6" name="Rounded Rectangle 5"/>
            <p:cNvSpPr/>
            <p:nvPr/>
          </p:nvSpPr>
          <p:spPr>
            <a:xfrm>
              <a:off x="2298907" y="2738211"/>
              <a:ext cx="1036848" cy="877333"/>
            </a:xfrm>
            <a:custGeom>
              <a:avLst/>
              <a:gdLst/>
              <a:ahLst/>
              <a:cxnLst/>
              <a:rect l="0" t="0" r="0" b="0"/>
              <a:pathLst>
                <a:path w="1036848" h="877333">
                  <a:moveTo>
                    <a:pt x="159515" y="438666"/>
                  </a:moveTo>
                  <a:cubicBezTo>
                    <a:pt x="159515" y="680935"/>
                    <a:pt x="355913" y="877333"/>
                    <a:pt x="598182" y="877333"/>
                  </a:cubicBezTo>
                  <a:cubicBezTo>
                    <a:pt x="840451" y="877333"/>
                    <a:pt x="1036848" y="680935"/>
                    <a:pt x="1036848" y="438666"/>
                  </a:cubicBezTo>
                  <a:cubicBezTo>
                    <a:pt x="1036848" y="196397"/>
                    <a:pt x="840451" y="0"/>
                    <a:pt x="598182" y="0"/>
                  </a:cubicBezTo>
                  <a:cubicBezTo>
                    <a:pt x="355913" y="0"/>
                    <a:pt x="159515" y="196397"/>
                    <a:pt x="159515" y="438666"/>
                  </a:cubicBezTo>
                  <a:moveTo>
                    <a:pt x="0" y="438666"/>
                  </a:moveTo>
                  <a:cubicBezTo>
                    <a:pt x="0" y="460691"/>
                    <a:pt x="17854" y="478545"/>
                    <a:pt x="39878" y="478545"/>
                  </a:cubicBezTo>
                  <a:cubicBezTo>
                    <a:pt x="61903" y="478545"/>
                    <a:pt x="79757" y="460691"/>
                    <a:pt x="79757" y="438666"/>
                  </a:cubicBezTo>
                  <a:cubicBezTo>
                    <a:pt x="79757" y="416642"/>
                    <a:pt x="61903" y="398788"/>
                    <a:pt x="39878" y="398788"/>
                  </a:cubicBezTo>
                  <a:cubicBezTo>
                    <a:pt x="17854" y="398788"/>
                    <a:pt x="0" y="416642"/>
                    <a:pt x="0" y="438666"/>
                  </a:cubicBezTo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7271" y="2239726"/>
              <a:ext cx="119636" cy="119636"/>
            </a:xfrm>
            <a:custGeom>
              <a:avLst/>
              <a:gdLst/>
              <a:ahLst/>
              <a:cxnLst/>
              <a:rect l="0" t="0" r="0" b="0"/>
              <a:pathLst>
                <a:path w="119636" h="119636">
                  <a:moveTo>
                    <a:pt x="119636" y="59818"/>
                  </a:moveTo>
                  <a:cubicBezTo>
                    <a:pt x="119636" y="92855"/>
                    <a:pt x="92855" y="119636"/>
                    <a:pt x="59818" y="119636"/>
                  </a:cubicBezTo>
                  <a:cubicBezTo>
                    <a:pt x="26781" y="119636"/>
                    <a:pt x="0" y="92855"/>
                    <a:pt x="0" y="59818"/>
                  </a:cubicBezTo>
                  <a:cubicBezTo>
                    <a:pt x="0" y="26781"/>
                    <a:pt x="26781" y="0"/>
                    <a:pt x="59818" y="0"/>
                  </a:cubicBezTo>
                  <a:cubicBezTo>
                    <a:pt x="92855" y="0"/>
                    <a:pt x="119636" y="26781"/>
                    <a:pt x="119636" y="59818"/>
                  </a:cubicBezTo>
                  <a:close/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415514" y="2738211"/>
            <a:ext cx="1036853" cy="1375819"/>
            <a:chOff x="3415514" y="2738211"/>
            <a:chExt cx="1036853" cy="1375819"/>
          </a:xfrm>
        </p:grpSpPr>
        <p:sp>
          <p:nvSpPr>
            <p:cNvPr id="9" name="Rounded Rectangle 8"/>
            <p:cNvSpPr/>
            <p:nvPr/>
          </p:nvSpPr>
          <p:spPr>
            <a:xfrm>
              <a:off x="3415514" y="2738211"/>
              <a:ext cx="1036853" cy="877338"/>
            </a:xfrm>
            <a:custGeom>
              <a:avLst/>
              <a:gdLst/>
              <a:ahLst/>
              <a:cxnLst/>
              <a:rect l="0" t="0" r="0" b="0"/>
              <a:pathLst>
                <a:path w="1036853" h="877338">
                  <a:moveTo>
                    <a:pt x="159515" y="438664"/>
                  </a:moveTo>
                  <a:cubicBezTo>
                    <a:pt x="159515" y="680932"/>
                    <a:pt x="355911" y="877338"/>
                    <a:pt x="598179" y="877338"/>
                  </a:cubicBezTo>
                  <a:cubicBezTo>
                    <a:pt x="840447" y="877338"/>
                    <a:pt x="1036853" y="680932"/>
                    <a:pt x="1036853" y="438664"/>
                  </a:cubicBezTo>
                  <a:cubicBezTo>
                    <a:pt x="1036853" y="196395"/>
                    <a:pt x="840447" y="0"/>
                    <a:pt x="598179" y="0"/>
                  </a:cubicBezTo>
                  <a:cubicBezTo>
                    <a:pt x="355911" y="0"/>
                    <a:pt x="159515" y="196395"/>
                    <a:pt x="159515" y="438664"/>
                  </a:cubicBezTo>
                  <a:moveTo>
                    <a:pt x="0" y="438664"/>
                  </a:moveTo>
                  <a:cubicBezTo>
                    <a:pt x="0" y="460695"/>
                    <a:pt x="17849" y="478545"/>
                    <a:pt x="39881" y="478545"/>
                  </a:cubicBezTo>
                  <a:cubicBezTo>
                    <a:pt x="61902" y="478545"/>
                    <a:pt x="79762" y="460695"/>
                    <a:pt x="79762" y="438664"/>
                  </a:cubicBezTo>
                  <a:cubicBezTo>
                    <a:pt x="79762" y="416642"/>
                    <a:pt x="61902" y="398792"/>
                    <a:pt x="39881" y="398792"/>
                  </a:cubicBezTo>
                  <a:cubicBezTo>
                    <a:pt x="17849" y="398792"/>
                    <a:pt x="0" y="416642"/>
                    <a:pt x="0" y="438664"/>
                  </a:cubicBezTo>
                </a:path>
              </a:pathLst>
            </a:custGeom>
            <a:solidFill>
              <a:srgbClr val="7E56FF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953877" y="3994397"/>
              <a:ext cx="119634" cy="119633"/>
            </a:xfrm>
            <a:custGeom>
              <a:avLst/>
              <a:gdLst/>
              <a:ahLst/>
              <a:cxnLst/>
              <a:rect l="0" t="0" r="0" b="0"/>
              <a:pathLst>
                <a:path w="119634" h="119633">
                  <a:moveTo>
                    <a:pt x="119634" y="59816"/>
                  </a:moveTo>
                  <a:cubicBezTo>
                    <a:pt x="119634" y="92849"/>
                    <a:pt x="92859" y="119633"/>
                    <a:pt x="59816" y="119633"/>
                  </a:cubicBezTo>
                  <a:cubicBezTo>
                    <a:pt x="26784" y="119633"/>
                    <a:pt x="0" y="92849"/>
                    <a:pt x="0" y="59816"/>
                  </a:cubicBezTo>
                  <a:cubicBezTo>
                    <a:pt x="0" y="26774"/>
                    <a:pt x="26784" y="0"/>
                    <a:pt x="59816" y="0"/>
                  </a:cubicBezTo>
                  <a:cubicBezTo>
                    <a:pt x="92859" y="0"/>
                    <a:pt x="119634" y="26774"/>
                    <a:pt x="119634" y="59816"/>
                  </a:cubicBezTo>
                </a:path>
              </a:pathLst>
            </a:custGeom>
            <a:solidFill>
              <a:srgbClr val="7E56FF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415514" y="2738211"/>
            <a:ext cx="1036848" cy="1375819"/>
            <a:chOff x="3415514" y="2738211"/>
            <a:chExt cx="1036848" cy="1375819"/>
          </a:xfrm>
        </p:grpSpPr>
        <p:sp>
          <p:nvSpPr>
            <p:cNvPr id="12" name="Rounded Rectangle 11"/>
            <p:cNvSpPr/>
            <p:nvPr/>
          </p:nvSpPr>
          <p:spPr>
            <a:xfrm>
              <a:off x="3415514" y="2738211"/>
              <a:ext cx="1036848" cy="877333"/>
            </a:xfrm>
            <a:custGeom>
              <a:avLst/>
              <a:gdLst/>
              <a:ahLst/>
              <a:cxnLst/>
              <a:rect l="0" t="0" r="0" b="0"/>
              <a:pathLst>
                <a:path w="1036848" h="877333">
                  <a:moveTo>
                    <a:pt x="159515" y="438666"/>
                  </a:moveTo>
                  <a:cubicBezTo>
                    <a:pt x="159515" y="680935"/>
                    <a:pt x="355913" y="877333"/>
                    <a:pt x="598182" y="877333"/>
                  </a:cubicBezTo>
                  <a:cubicBezTo>
                    <a:pt x="840451" y="877333"/>
                    <a:pt x="1036848" y="680935"/>
                    <a:pt x="1036848" y="438666"/>
                  </a:cubicBezTo>
                  <a:cubicBezTo>
                    <a:pt x="1036848" y="196397"/>
                    <a:pt x="840451" y="0"/>
                    <a:pt x="598182" y="0"/>
                  </a:cubicBezTo>
                  <a:cubicBezTo>
                    <a:pt x="355913" y="0"/>
                    <a:pt x="159515" y="196397"/>
                    <a:pt x="159515" y="438666"/>
                  </a:cubicBezTo>
                  <a:moveTo>
                    <a:pt x="0" y="438666"/>
                  </a:moveTo>
                  <a:cubicBezTo>
                    <a:pt x="0" y="460691"/>
                    <a:pt x="17854" y="478545"/>
                    <a:pt x="39878" y="478545"/>
                  </a:cubicBezTo>
                  <a:cubicBezTo>
                    <a:pt x="61903" y="478545"/>
                    <a:pt x="79757" y="460691"/>
                    <a:pt x="79757" y="438666"/>
                  </a:cubicBezTo>
                  <a:cubicBezTo>
                    <a:pt x="79757" y="416642"/>
                    <a:pt x="61903" y="398788"/>
                    <a:pt x="39878" y="398788"/>
                  </a:cubicBezTo>
                  <a:cubicBezTo>
                    <a:pt x="17854" y="398788"/>
                    <a:pt x="0" y="416642"/>
                    <a:pt x="0" y="438666"/>
                  </a:cubicBezTo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53878" y="3994394"/>
              <a:ext cx="119636" cy="119636"/>
            </a:xfrm>
            <a:custGeom>
              <a:avLst/>
              <a:gdLst/>
              <a:ahLst/>
              <a:cxnLst/>
              <a:rect l="0" t="0" r="0" b="0"/>
              <a:pathLst>
                <a:path w="119636" h="119636">
                  <a:moveTo>
                    <a:pt x="119636" y="59818"/>
                  </a:moveTo>
                  <a:cubicBezTo>
                    <a:pt x="119636" y="92855"/>
                    <a:pt x="92855" y="119636"/>
                    <a:pt x="59818" y="119636"/>
                  </a:cubicBezTo>
                  <a:cubicBezTo>
                    <a:pt x="26781" y="119636"/>
                    <a:pt x="0" y="92855"/>
                    <a:pt x="0" y="59818"/>
                  </a:cubicBezTo>
                  <a:cubicBezTo>
                    <a:pt x="0" y="26781"/>
                    <a:pt x="26781" y="0"/>
                    <a:pt x="59818" y="0"/>
                  </a:cubicBezTo>
                  <a:cubicBezTo>
                    <a:pt x="92855" y="0"/>
                    <a:pt x="119636" y="26781"/>
                    <a:pt x="119636" y="59818"/>
                  </a:cubicBezTo>
                  <a:close/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32121" y="2239726"/>
            <a:ext cx="1036853" cy="1375819"/>
            <a:chOff x="4532121" y="2239726"/>
            <a:chExt cx="1036853" cy="1375819"/>
          </a:xfrm>
        </p:grpSpPr>
        <p:sp>
          <p:nvSpPr>
            <p:cNvPr id="15" name="Rounded Rectangle 14"/>
            <p:cNvSpPr/>
            <p:nvPr/>
          </p:nvSpPr>
          <p:spPr>
            <a:xfrm>
              <a:off x="4532121" y="2738207"/>
              <a:ext cx="1036853" cy="877338"/>
            </a:xfrm>
            <a:custGeom>
              <a:avLst/>
              <a:gdLst/>
              <a:ahLst/>
              <a:cxnLst/>
              <a:rect l="0" t="0" r="0" b="0"/>
              <a:pathLst>
                <a:path w="1036853" h="877338">
                  <a:moveTo>
                    <a:pt x="159515" y="438673"/>
                  </a:moveTo>
                  <a:cubicBezTo>
                    <a:pt x="159515" y="680942"/>
                    <a:pt x="355911" y="877338"/>
                    <a:pt x="598179" y="877338"/>
                  </a:cubicBezTo>
                  <a:cubicBezTo>
                    <a:pt x="840447" y="877338"/>
                    <a:pt x="1036853" y="680942"/>
                    <a:pt x="1036853" y="438673"/>
                  </a:cubicBezTo>
                  <a:cubicBezTo>
                    <a:pt x="1036853" y="196405"/>
                    <a:pt x="840447" y="0"/>
                    <a:pt x="598179" y="0"/>
                  </a:cubicBezTo>
                  <a:cubicBezTo>
                    <a:pt x="355911" y="0"/>
                    <a:pt x="159515" y="196405"/>
                    <a:pt x="159515" y="438673"/>
                  </a:cubicBezTo>
                  <a:moveTo>
                    <a:pt x="0" y="438673"/>
                  </a:moveTo>
                  <a:cubicBezTo>
                    <a:pt x="0" y="460695"/>
                    <a:pt x="17859" y="478545"/>
                    <a:pt x="39881" y="478545"/>
                  </a:cubicBezTo>
                  <a:cubicBezTo>
                    <a:pt x="61902" y="478545"/>
                    <a:pt x="79762" y="460695"/>
                    <a:pt x="79762" y="438673"/>
                  </a:cubicBezTo>
                  <a:cubicBezTo>
                    <a:pt x="79762" y="416642"/>
                    <a:pt x="61902" y="398792"/>
                    <a:pt x="39881" y="398792"/>
                  </a:cubicBezTo>
                  <a:cubicBezTo>
                    <a:pt x="17859" y="398792"/>
                    <a:pt x="0" y="416642"/>
                    <a:pt x="0" y="438673"/>
                  </a:cubicBezTo>
                </a:path>
              </a:pathLst>
            </a:custGeom>
            <a:solidFill>
              <a:srgbClr val="7E56FF">
                <a:alpha val="8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070483" y="2239726"/>
              <a:ext cx="119634" cy="119634"/>
            </a:xfrm>
            <a:custGeom>
              <a:avLst/>
              <a:gdLst/>
              <a:ahLst/>
              <a:cxnLst/>
              <a:rect l="0" t="0" r="0" b="0"/>
              <a:pathLst>
                <a:path w="119634" h="119634">
                  <a:moveTo>
                    <a:pt x="119634" y="59817"/>
                  </a:moveTo>
                  <a:cubicBezTo>
                    <a:pt x="119634" y="92859"/>
                    <a:pt x="92859" y="119634"/>
                    <a:pt x="59817" y="119634"/>
                  </a:cubicBezTo>
                  <a:cubicBezTo>
                    <a:pt x="26784" y="119634"/>
                    <a:pt x="0" y="92859"/>
                    <a:pt x="0" y="59817"/>
                  </a:cubicBezTo>
                  <a:cubicBezTo>
                    <a:pt x="0" y="26784"/>
                    <a:pt x="26784" y="0"/>
                    <a:pt x="59817" y="0"/>
                  </a:cubicBezTo>
                  <a:cubicBezTo>
                    <a:pt x="92859" y="0"/>
                    <a:pt x="119634" y="26784"/>
                    <a:pt x="119634" y="59817"/>
                  </a:cubicBezTo>
                </a:path>
              </a:pathLst>
            </a:custGeom>
            <a:solidFill>
              <a:srgbClr val="7E56FF">
                <a:alpha val="8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532121" y="2239726"/>
            <a:ext cx="1036848" cy="1375818"/>
            <a:chOff x="4532121" y="2239726"/>
            <a:chExt cx="1036848" cy="1375818"/>
          </a:xfrm>
        </p:grpSpPr>
        <p:sp>
          <p:nvSpPr>
            <p:cNvPr id="18" name="Rounded Rectangle 17"/>
            <p:cNvSpPr/>
            <p:nvPr/>
          </p:nvSpPr>
          <p:spPr>
            <a:xfrm>
              <a:off x="4532121" y="2738211"/>
              <a:ext cx="1036848" cy="877333"/>
            </a:xfrm>
            <a:custGeom>
              <a:avLst/>
              <a:gdLst/>
              <a:ahLst/>
              <a:cxnLst/>
              <a:rect l="0" t="0" r="0" b="0"/>
              <a:pathLst>
                <a:path w="1036848" h="877333">
                  <a:moveTo>
                    <a:pt x="159515" y="438666"/>
                  </a:moveTo>
                  <a:cubicBezTo>
                    <a:pt x="159515" y="680935"/>
                    <a:pt x="355913" y="877333"/>
                    <a:pt x="598182" y="877333"/>
                  </a:cubicBezTo>
                  <a:cubicBezTo>
                    <a:pt x="840451" y="877333"/>
                    <a:pt x="1036848" y="680935"/>
                    <a:pt x="1036848" y="438666"/>
                  </a:cubicBezTo>
                  <a:cubicBezTo>
                    <a:pt x="1036848" y="196397"/>
                    <a:pt x="840451" y="0"/>
                    <a:pt x="598182" y="0"/>
                  </a:cubicBezTo>
                  <a:cubicBezTo>
                    <a:pt x="355913" y="0"/>
                    <a:pt x="159515" y="196397"/>
                    <a:pt x="159515" y="438666"/>
                  </a:cubicBezTo>
                  <a:moveTo>
                    <a:pt x="0" y="438666"/>
                  </a:moveTo>
                  <a:cubicBezTo>
                    <a:pt x="0" y="460691"/>
                    <a:pt x="17854" y="478545"/>
                    <a:pt x="39878" y="478545"/>
                  </a:cubicBezTo>
                  <a:cubicBezTo>
                    <a:pt x="61903" y="478545"/>
                    <a:pt x="79757" y="460691"/>
                    <a:pt x="79757" y="438666"/>
                  </a:cubicBezTo>
                  <a:cubicBezTo>
                    <a:pt x="79757" y="416642"/>
                    <a:pt x="61903" y="398788"/>
                    <a:pt x="39878" y="398788"/>
                  </a:cubicBezTo>
                  <a:cubicBezTo>
                    <a:pt x="17854" y="398788"/>
                    <a:pt x="0" y="416642"/>
                    <a:pt x="0" y="438666"/>
                  </a:cubicBezTo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070485" y="2239726"/>
              <a:ext cx="119636" cy="119636"/>
            </a:xfrm>
            <a:custGeom>
              <a:avLst/>
              <a:gdLst/>
              <a:ahLst/>
              <a:cxnLst/>
              <a:rect l="0" t="0" r="0" b="0"/>
              <a:pathLst>
                <a:path w="119636" h="119636">
                  <a:moveTo>
                    <a:pt x="119636" y="59818"/>
                  </a:moveTo>
                  <a:cubicBezTo>
                    <a:pt x="119636" y="92855"/>
                    <a:pt x="92855" y="119636"/>
                    <a:pt x="59818" y="119636"/>
                  </a:cubicBezTo>
                  <a:cubicBezTo>
                    <a:pt x="26781" y="119636"/>
                    <a:pt x="0" y="92855"/>
                    <a:pt x="0" y="59818"/>
                  </a:cubicBezTo>
                  <a:cubicBezTo>
                    <a:pt x="0" y="26781"/>
                    <a:pt x="26781" y="0"/>
                    <a:pt x="59818" y="0"/>
                  </a:cubicBezTo>
                  <a:cubicBezTo>
                    <a:pt x="92855" y="0"/>
                    <a:pt x="119636" y="26781"/>
                    <a:pt x="119636" y="59818"/>
                  </a:cubicBezTo>
                  <a:close/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648727" y="2738211"/>
            <a:ext cx="1196368" cy="1375819"/>
            <a:chOff x="5648727" y="2738211"/>
            <a:chExt cx="1196368" cy="1375819"/>
          </a:xfrm>
        </p:grpSpPr>
        <p:sp>
          <p:nvSpPr>
            <p:cNvPr id="21" name="Rounded Rectangle 20"/>
            <p:cNvSpPr/>
            <p:nvPr/>
          </p:nvSpPr>
          <p:spPr>
            <a:xfrm>
              <a:off x="5648727" y="2738211"/>
              <a:ext cx="1196368" cy="877338"/>
            </a:xfrm>
            <a:custGeom>
              <a:avLst/>
              <a:gdLst/>
              <a:ahLst/>
              <a:cxnLst/>
              <a:rect l="0" t="0" r="0" b="0"/>
              <a:pathLst>
                <a:path w="1196368" h="877338">
                  <a:moveTo>
                    <a:pt x="159515" y="438664"/>
                  </a:moveTo>
                  <a:cubicBezTo>
                    <a:pt x="159515" y="680932"/>
                    <a:pt x="355911" y="877338"/>
                    <a:pt x="598179" y="877338"/>
                  </a:cubicBezTo>
                  <a:cubicBezTo>
                    <a:pt x="840447" y="877338"/>
                    <a:pt x="1036853" y="680932"/>
                    <a:pt x="1036853" y="438664"/>
                  </a:cubicBezTo>
                  <a:cubicBezTo>
                    <a:pt x="1036853" y="196395"/>
                    <a:pt x="840447" y="0"/>
                    <a:pt x="598179" y="0"/>
                  </a:cubicBezTo>
                  <a:cubicBezTo>
                    <a:pt x="355911" y="0"/>
                    <a:pt x="159515" y="196395"/>
                    <a:pt x="159515" y="438664"/>
                  </a:cubicBezTo>
                  <a:moveTo>
                    <a:pt x="0" y="438664"/>
                  </a:moveTo>
                  <a:cubicBezTo>
                    <a:pt x="0" y="460695"/>
                    <a:pt x="17849" y="478545"/>
                    <a:pt x="39881" y="478545"/>
                  </a:cubicBezTo>
                  <a:cubicBezTo>
                    <a:pt x="61902" y="478545"/>
                    <a:pt x="79762" y="460695"/>
                    <a:pt x="79762" y="438664"/>
                  </a:cubicBezTo>
                  <a:cubicBezTo>
                    <a:pt x="79762" y="416642"/>
                    <a:pt x="61902" y="398792"/>
                    <a:pt x="39881" y="398792"/>
                  </a:cubicBezTo>
                  <a:cubicBezTo>
                    <a:pt x="17849" y="398792"/>
                    <a:pt x="0" y="416642"/>
                    <a:pt x="0" y="438664"/>
                  </a:cubicBezTo>
                  <a:moveTo>
                    <a:pt x="1116606" y="438664"/>
                  </a:moveTo>
                  <a:cubicBezTo>
                    <a:pt x="1116606" y="460695"/>
                    <a:pt x="1134465" y="478545"/>
                    <a:pt x="1156487" y="478545"/>
                  </a:cubicBezTo>
                  <a:cubicBezTo>
                    <a:pt x="1178509" y="478545"/>
                    <a:pt x="1196368" y="460695"/>
                    <a:pt x="1196368" y="438664"/>
                  </a:cubicBezTo>
                  <a:cubicBezTo>
                    <a:pt x="1196368" y="416642"/>
                    <a:pt x="1178509" y="398792"/>
                    <a:pt x="1156487" y="398792"/>
                  </a:cubicBezTo>
                  <a:cubicBezTo>
                    <a:pt x="1134465" y="398792"/>
                    <a:pt x="1116606" y="416642"/>
                    <a:pt x="1116606" y="438664"/>
                  </a:cubicBezTo>
                </a:path>
              </a:pathLst>
            </a:custGeom>
            <a:solidFill>
              <a:srgbClr val="7E56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187089" y="3994397"/>
              <a:ext cx="119634" cy="119633"/>
            </a:xfrm>
            <a:custGeom>
              <a:avLst/>
              <a:gdLst/>
              <a:ahLst/>
              <a:cxnLst/>
              <a:rect l="0" t="0" r="0" b="0"/>
              <a:pathLst>
                <a:path w="119634" h="119633">
                  <a:moveTo>
                    <a:pt x="119634" y="59816"/>
                  </a:moveTo>
                  <a:cubicBezTo>
                    <a:pt x="119634" y="92849"/>
                    <a:pt x="92859" y="119633"/>
                    <a:pt x="59817" y="119633"/>
                  </a:cubicBezTo>
                  <a:cubicBezTo>
                    <a:pt x="26784" y="119633"/>
                    <a:pt x="0" y="92849"/>
                    <a:pt x="0" y="59816"/>
                  </a:cubicBezTo>
                  <a:cubicBezTo>
                    <a:pt x="0" y="26774"/>
                    <a:pt x="26784" y="0"/>
                    <a:pt x="59817" y="0"/>
                  </a:cubicBezTo>
                  <a:cubicBezTo>
                    <a:pt x="92859" y="0"/>
                    <a:pt x="119634" y="26774"/>
                    <a:pt x="119634" y="59816"/>
                  </a:cubicBezTo>
                </a:path>
              </a:pathLst>
            </a:custGeom>
            <a:solidFill>
              <a:srgbClr val="7E56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648727" y="2738211"/>
            <a:ext cx="1196364" cy="1375819"/>
            <a:chOff x="5648727" y="2738211"/>
            <a:chExt cx="1196364" cy="1375819"/>
          </a:xfrm>
        </p:grpSpPr>
        <p:sp>
          <p:nvSpPr>
            <p:cNvPr id="24" name="Rounded Rectangle 23"/>
            <p:cNvSpPr/>
            <p:nvPr/>
          </p:nvSpPr>
          <p:spPr>
            <a:xfrm>
              <a:off x="5648727" y="2738211"/>
              <a:ext cx="1196364" cy="877333"/>
            </a:xfrm>
            <a:custGeom>
              <a:avLst/>
              <a:gdLst/>
              <a:ahLst/>
              <a:cxnLst/>
              <a:rect l="0" t="0" r="0" b="0"/>
              <a:pathLst>
                <a:path w="1196364" h="877333">
                  <a:moveTo>
                    <a:pt x="159515" y="438666"/>
                  </a:moveTo>
                  <a:cubicBezTo>
                    <a:pt x="159515" y="680935"/>
                    <a:pt x="355913" y="877333"/>
                    <a:pt x="598182" y="877333"/>
                  </a:cubicBezTo>
                  <a:cubicBezTo>
                    <a:pt x="840451" y="877333"/>
                    <a:pt x="1036848" y="680935"/>
                    <a:pt x="1036848" y="438666"/>
                  </a:cubicBezTo>
                  <a:cubicBezTo>
                    <a:pt x="1036848" y="196397"/>
                    <a:pt x="840451" y="0"/>
                    <a:pt x="598182" y="0"/>
                  </a:cubicBezTo>
                  <a:cubicBezTo>
                    <a:pt x="355913" y="0"/>
                    <a:pt x="159515" y="196397"/>
                    <a:pt x="159515" y="438666"/>
                  </a:cubicBezTo>
                  <a:moveTo>
                    <a:pt x="0" y="438666"/>
                  </a:moveTo>
                  <a:cubicBezTo>
                    <a:pt x="0" y="460691"/>
                    <a:pt x="17854" y="478545"/>
                    <a:pt x="39878" y="478545"/>
                  </a:cubicBezTo>
                  <a:cubicBezTo>
                    <a:pt x="61903" y="478545"/>
                    <a:pt x="79757" y="460691"/>
                    <a:pt x="79757" y="438666"/>
                  </a:cubicBezTo>
                  <a:cubicBezTo>
                    <a:pt x="79757" y="416642"/>
                    <a:pt x="61903" y="398788"/>
                    <a:pt x="39878" y="398788"/>
                  </a:cubicBezTo>
                  <a:cubicBezTo>
                    <a:pt x="17854" y="398788"/>
                    <a:pt x="0" y="416642"/>
                    <a:pt x="0" y="438666"/>
                  </a:cubicBezTo>
                  <a:moveTo>
                    <a:pt x="1116606" y="438666"/>
                  </a:moveTo>
                  <a:cubicBezTo>
                    <a:pt x="1116606" y="460691"/>
                    <a:pt x="1134460" y="478545"/>
                    <a:pt x="1156485" y="478545"/>
                  </a:cubicBezTo>
                  <a:cubicBezTo>
                    <a:pt x="1178509" y="478545"/>
                    <a:pt x="1196364" y="460691"/>
                    <a:pt x="1196364" y="438666"/>
                  </a:cubicBezTo>
                  <a:cubicBezTo>
                    <a:pt x="1196364" y="416642"/>
                    <a:pt x="1178509" y="398788"/>
                    <a:pt x="1156485" y="398788"/>
                  </a:cubicBezTo>
                  <a:cubicBezTo>
                    <a:pt x="1134460" y="398788"/>
                    <a:pt x="1116606" y="416642"/>
                    <a:pt x="1116606" y="438666"/>
                  </a:cubicBezTo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187091" y="3994394"/>
              <a:ext cx="119636" cy="119636"/>
            </a:xfrm>
            <a:custGeom>
              <a:avLst/>
              <a:gdLst/>
              <a:ahLst/>
              <a:cxnLst/>
              <a:rect l="0" t="0" r="0" b="0"/>
              <a:pathLst>
                <a:path w="119636" h="119636">
                  <a:moveTo>
                    <a:pt x="119636" y="59818"/>
                  </a:moveTo>
                  <a:cubicBezTo>
                    <a:pt x="119636" y="92855"/>
                    <a:pt x="92855" y="119636"/>
                    <a:pt x="59818" y="119636"/>
                  </a:cubicBezTo>
                  <a:cubicBezTo>
                    <a:pt x="26781" y="119636"/>
                    <a:pt x="0" y="92855"/>
                    <a:pt x="0" y="59818"/>
                  </a:cubicBezTo>
                  <a:cubicBezTo>
                    <a:pt x="0" y="26781"/>
                    <a:pt x="26781" y="0"/>
                    <a:pt x="59818" y="0"/>
                  </a:cubicBezTo>
                  <a:cubicBezTo>
                    <a:pt x="92855" y="0"/>
                    <a:pt x="119636" y="26781"/>
                    <a:pt x="119636" y="59818"/>
                  </a:cubicBezTo>
                  <a:close/>
                </a:path>
              </a:pathLst>
            </a:custGeom>
            <a:noFill/>
            <a:ln w="13296">
              <a:solidFill>
                <a:srgbClr val="1A153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2897090" y="2359362"/>
            <a:ext cx="9525" cy="378848"/>
          </a:xfrm>
          <a:custGeom>
            <a:avLst/>
            <a:gdLst/>
            <a:ahLst/>
            <a:cxnLst/>
            <a:rect l="0" t="0" r="0" b="0"/>
            <a:pathLst>
              <a:path w="9525" h="378848">
                <a:moveTo>
                  <a:pt x="0" y="378848"/>
                </a:moveTo>
                <a:lnTo>
                  <a:pt x="0" y="0"/>
                </a:lnTo>
              </a:path>
            </a:pathLst>
          </a:custGeom>
          <a:noFill/>
          <a:ln w="13296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30303" y="2359362"/>
            <a:ext cx="9525" cy="378848"/>
          </a:xfrm>
          <a:custGeom>
            <a:avLst/>
            <a:gdLst/>
            <a:ahLst/>
            <a:cxnLst/>
            <a:rect l="0" t="0" r="0" b="0"/>
            <a:pathLst>
              <a:path w="9525" h="378848">
                <a:moveTo>
                  <a:pt x="0" y="378848"/>
                </a:moveTo>
                <a:lnTo>
                  <a:pt x="0" y="0"/>
                </a:lnTo>
              </a:path>
            </a:pathLst>
          </a:custGeom>
          <a:noFill/>
          <a:ln w="13296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13696" y="3615544"/>
            <a:ext cx="9525" cy="378848"/>
          </a:xfrm>
          <a:custGeom>
            <a:avLst/>
            <a:gdLst/>
            <a:ahLst/>
            <a:cxnLst/>
            <a:rect l="0" t="0" r="0" b="0"/>
            <a:pathLst>
              <a:path w="9525" h="378848">
                <a:moveTo>
                  <a:pt x="0" y="378848"/>
                </a:moveTo>
                <a:lnTo>
                  <a:pt x="0" y="0"/>
                </a:lnTo>
              </a:path>
            </a:pathLst>
          </a:custGeom>
          <a:noFill/>
          <a:ln w="13296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46910" y="3615544"/>
            <a:ext cx="9525" cy="378848"/>
          </a:xfrm>
          <a:custGeom>
            <a:avLst/>
            <a:gdLst/>
            <a:ahLst/>
            <a:cxnLst/>
            <a:rect l="0" t="0" r="0" b="0"/>
            <a:pathLst>
              <a:path w="9525" h="378848">
                <a:moveTo>
                  <a:pt x="0" y="378848"/>
                </a:moveTo>
                <a:lnTo>
                  <a:pt x="0" y="0"/>
                </a:lnTo>
              </a:path>
            </a:pathLst>
          </a:custGeom>
          <a:noFill/>
          <a:ln w="13296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953" y="371475"/>
            <a:ext cx="805408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"/>
              </a:rPr>
              <a:t>Measurement: The Moment of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5112" y="1382255"/>
            <a:ext cx="1023945" cy="31905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Funnel Display"/>
              </a:rPr>
              <a:t>Qubit in</a:t>
            </a:r>
          </a:p>
          <a:p>
            <a:pPr algn="ctr">
              <a:lnSpc>
                <a:spcPct val="100000"/>
              </a:lnSpc>
              <a:spcBef>
                <a:spcPts val="56"/>
              </a:spcBef>
            </a:pPr>
            <a:r>
              <a:rPr sz="1000" b="1">
                <a:solidFill>
                  <a:srgbClr val="FFFFFF"/>
                </a:solidFill>
                <a:latin typeface="Funnel Display"/>
              </a:rPr>
              <a:t>superposition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0169" y="1781075"/>
            <a:ext cx="1413833" cy="3589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A qubit exists in a state of</a:t>
            </a:r>
          </a:p>
          <a:p>
            <a:pPr algn="ctr">
              <a:lnSpc>
                <a:spcPct val="100000"/>
              </a:lnSpc>
              <a:spcBef>
                <a:spcPts val="102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superposition before</a:t>
            </a:r>
          </a:p>
          <a:p>
            <a:pPr algn="ctr">
              <a:lnSpc>
                <a:spcPct val="100000"/>
              </a:lnSpc>
              <a:spcBef>
                <a:spcPts val="102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measurement.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5731" y="1382248"/>
            <a:ext cx="1549155" cy="31905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Funnel Display"/>
              </a:rPr>
              <a:t>Probability</a:t>
            </a:r>
          </a:p>
          <a:p>
            <a:pPr algn="ctr">
              <a:lnSpc>
                <a:spcPct val="100000"/>
              </a:lnSpc>
              <a:spcBef>
                <a:spcPts val="56"/>
              </a:spcBef>
            </a:pPr>
            <a:r>
              <a:rPr sz="1000" b="1">
                <a:solidFill>
                  <a:srgbClr val="FFFFFF"/>
                </a:solidFill>
                <a:latin typeface="Funnel Display"/>
              </a:rPr>
              <a:t>determines 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8451" y="1781075"/>
            <a:ext cx="1463694" cy="3589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Probability determines the</a:t>
            </a:r>
          </a:p>
          <a:p>
            <a:pPr algn="ctr">
              <a:lnSpc>
                <a:spcPct val="100000"/>
              </a:lnSpc>
              <a:spcBef>
                <a:spcPts val="102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outcome of the</a:t>
            </a:r>
          </a:p>
          <a:p>
            <a:pPr algn="ctr">
              <a:lnSpc>
                <a:spcPct val="100000"/>
              </a:lnSpc>
              <a:spcBef>
                <a:spcPts val="102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measurement.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13971" y="2993758"/>
            <a:ext cx="366237" cy="366237"/>
          </a:xfrm>
          <a:custGeom>
            <a:avLst/>
            <a:gdLst/>
            <a:ahLst/>
            <a:cxnLst/>
            <a:rect l="0" t="0" r="0" b="0"/>
            <a:pathLst>
              <a:path w="366237" h="366237">
                <a:moveTo>
                  <a:pt x="183118" y="366237"/>
                </a:moveTo>
                <a:cubicBezTo>
                  <a:pt x="284252" y="366237"/>
                  <a:pt x="366237" y="284252"/>
                  <a:pt x="366237" y="183118"/>
                </a:cubicBezTo>
                <a:cubicBezTo>
                  <a:pt x="366237" y="81984"/>
                  <a:pt x="284252" y="0"/>
                  <a:pt x="183118" y="0"/>
                </a:cubicBezTo>
                <a:cubicBezTo>
                  <a:pt x="81984" y="0"/>
                  <a:pt x="0" y="81984"/>
                  <a:pt x="0" y="183118"/>
                </a:cubicBezTo>
                <a:cubicBezTo>
                  <a:pt x="0" y="284252"/>
                  <a:pt x="81984" y="366237"/>
                  <a:pt x="183118" y="366237"/>
                </a:cubicBezTo>
                <a:close/>
                <a:moveTo>
                  <a:pt x="183118" y="256543"/>
                </a:moveTo>
                <a:cubicBezTo>
                  <a:pt x="81984" y="256543"/>
                  <a:pt x="0" y="223670"/>
                  <a:pt x="0" y="183118"/>
                </a:cubicBezTo>
                <a:cubicBezTo>
                  <a:pt x="0" y="142566"/>
                  <a:pt x="81984" y="109692"/>
                  <a:pt x="183118" y="109692"/>
                </a:cubicBezTo>
                <a:cubicBezTo>
                  <a:pt x="284252" y="109692"/>
                  <a:pt x="366237" y="142566"/>
                  <a:pt x="366237" y="183118"/>
                </a:cubicBezTo>
                <a:cubicBezTo>
                  <a:pt x="366237" y="223670"/>
                  <a:pt x="284252" y="256543"/>
                  <a:pt x="183118" y="256543"/>
                </a:cubicBezTo>
                <a:close/>
              </a:path>
            </a:pathLst>
          </a:custGeom>
          <a:noFill/>
          <a:ln w="132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23275" y="2986452"/>
            <a:ext cx="380925" cy="380845"/>
          </a:xfrm>
          <a:custGeom>
            <a:avLst/>
            <a:gdLst/>
            <a:ahLst/>
            <a:cxnLst/>
            <a:rect l="0" t="0" r="0" b="0"/>
            <a:pathLst>
              <a:path w="380925" h="380845">
                <a:moveTo>
                  <a:pt x="195838" y="363049"/>
                </a:moveTo>
                <a:cubicBezTo>
                  <a:pt x="195829" y="372874"/>
                  <a:pt x="187866" y="380836"/>
                  <a:pt x="178042" y="380845"/>
                </a:cubicBezTo>
                <a:lnTo>
                  <a:pt x="17812" y="380845"/>
                </a:lnTo>
                <a:cubicBezTo>
                  <a:pt x="7981" y="380845"/>
                  <a:pt x="9" y="372880"/>
                  <a:pt x="0" y="363049"/>
                </a:cubicBezTo>
                <a:lnTo>
                  <a:pt x="0" y="318535"/>
                </a:lnTo>
                <a:cubicBezTo>
                  <a:pt x="0" y="264455"/>
                  <a:pt x="43839" y="220616"/>
                  <a:pt x="97919" y="220616"/>
                </a:cubicBezTo>
                <a:cubicBezTo>
                  <a:pt x="151998" y="220616"/>
                  <a:pt x="195838" y="264455"/>
                  <a:pt x="195838" y="318535"/>
                </a:cubicBezTo>
                <a:close/>
                <a:moveTo>
                  <a:pt x="60532" y="281148"/>
                </a:moveTo>
                <a:cubicBezTo>
                  <a:pt x="60532" y="283442"/>
                  <a:pt x="62392" y="285302"/>
                  <a:pt x="64686" y="285302"/>
                </a:cubicBezTo>
                <a:cubicBezTo>
                  <a:pt x="66980" y="285302"/>
                  <a:pt x="68840" y="283442"/>
                  <a:pt x="68840" y="281148"/>
                </a:cubicBezTo>
                <a:cubicBezTo>
                  <a:pt x="68840" y="278854"/>
                  <a:pt x="66980" y="276994"/>
                  <a:pt x="64686" y="276994"/>
                </a:cubicBezTo>
                <a:cubicBezTo>
                  <a:pt x="62392" y="276994"/>
                  <a:pt x="60532" y="278854"/>
                  <a:pt x="60532" y="281148"/>
                </a:cubicBezTo>
                <a:moveTo>
                  <a:pt x="126997" y="281049"/>
                </a:moveTo>
                <a:cubicBezTo>
                  <a:pt x="126997" y="283343"/>
                  <a:pt x="128857" y="285203"/>
                  <a:pt x="131151" y="285203"/>
                </a:cubicBezTo>
                <a:cubicBezTo>
                  <a:pt x="133445" y="285203"/>
                  <a:pt x="135305" y="283343"/>
                  <a:pt x="135305" y="281049"/>
                </a:cubicBezTo>
                <a:cubicBezTo>
                  <a:pt x="135305" y="278754"/>
                  <a:pt x="133445" y="276895"/>
                  <a:pt x="131151" y="276895"/>
                </a:cubicBezTo>
                <a:cubicBezTo>
                  <a:pt x="128857" y="276895"/>
                  <a:pt x="126997" y="278754"/>
                  <a:pt x="126997" y="281049"/>
                </a:cubicBezTo>
                <a:moveTo>
                  <a:pt x="97919" y="220616"/>
                </a:moveTo>
                <a:lnTo>
                  <a:pt x="97919" y="185007"/>
                </a:lnTo>
                <a:moveTo>
                  <a:pt x="71216" y="158305"/>
                </a:moveTo>
                <a:cubicBezTo>
                  <a:pt x="71216" y="173052"/>
                  <a:pt x="83171" y="185007"/>
                  <a:pt x="97919" y="185007"/>
                </a:cubicBezTo>
                <a:cubicBezTo>
                  <a:pt x="112666" y="185007"/>
                  <a:pt x="124621" y="173052"/>
                  <a:pt x="124621" y="158305"/>
                </a:cubicBezTo>
                <a:cubicBezTo>
                  <a:pt x="124621" y="143558"/>
                  <a:pt x="112666" y="131603"/>
                  <a:pt x="97919" y="131603"/>
                </a:cubicBezTo>
                <a:cubicBezTo>
                  <a:pt x="83171" y="131603"/>
                  <a:pt x="71216" y="143558"/>
                  <a:pt x="71216" y="158305"/>
                </a:cubicBezTo>
                <a:moveTo>
                  <a:pt x="0" y="336231"/>
                </a:moveTo>
                <a:lnTo>
                  <a:pt x="195838" y="336231"/>
                </a:lnTo>
                <a:moveTo>
                  <a:pt x="380842" y="72117"/>
                </a:moveTo>
                <a:cubicBezTo>
                  <a:pt x="358503" y="116298"/>
                  <a:pt x="313206" y="144152"/>
                  <a:pt x="263698" y="144152"/>
                </a:cubicBezTo>
                <a:cubicBezTo>
                  <a:pt x="214190" y="144152"/>
                  <a:pt x="168894" y="116298"/>
                  <a:pt x="146554" y="72117"/>
                </a:cubicBezTo>
                <a:cubicBezTo>
                  <a:pt x="168878" y="27891"/>
                  <a:pt x="214199" y="0"/>
                  <a:pt x="263740" y="0"/>
                </a:cubicBezTo>
                <a:cubicBezTo>
                  <a:pt x="313281" y="0"/>
                  <a:pt x="358602" y="27891"/>
                  <a:pt x="380925" y="72117"/>
                </a:cubicBezTo>
                <a:close/>
                <a:moveTo>
                  <a:pt x="227608" y="72117"/>
                </a:moveTo>
                <a:cubicBezTo>
                  <a:pt x="227608" y="92031"/>
                  <a:pt x="243751" y="108174"/>
                  <a:pt x="263665" y="108174"/>
                </a:cubicBezTo>
                <a:cubicBezTo>
                  <a:pt x="283579" y="108174"/>
                  <a:pt x="299722" y="92031"/>
                  <a:pt x="299722" y="72117"/>
                </a:cubicBezTo>
                <a:cubicBezTo>
                  <a:pt x="299722" y="52203"/>
                  <a:pt x="283579" y="36060"/>
                  <a:pt x="263665" y="36060"/>
                </a:cubicBezTo>
                <a:cubicBezTo>
                  <a:pt x="243751" y="36060"/>
                  <a:pt x="227608" y="52203"/>
                  <a:pt x="227608" y="72117"/>
                </a:cubicBezTo>
              </a:path>
            </a:pathLst>
          </a:custGeom>
          <a:noFill/>
          <a:ln w="132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30908" y="2977483"/>
            <a:ext cx="386352" cy="388685"/>
          </a:xfrm>
          <a:custGeom>
            <a:avLst/>
            <a:gdLst/>
            <a:ahLst/>
            <a:cxnLst/>
            <a:rect l="0" t="0" r="0" b="0"/>
            <a:pathLst>
              <a:path w="386352" h="388685">
                <a:moveTo>
                  <a:pt x="321772" y="82416"/>
                </a:moveTo>
                <a:cubicBezTo>
                  <a:pt x="316725" y="64954"/>
                  <a:pt x="303651" y="50947"/>
                  <a:pt x="286579" y="44709"/>
                </a:cubicBezTo>
                <a:cubicBezTo>
                  <a:pt x="269507" y="38471"/>
                  <a:pt x="250483" y="40751"/>
                  <a:pt x="235368" y="50845"/>
                </a:cubicBezTo>
                <a:cubicBezTo>
                  <a:pt x="224247" y="24963"/>
                  <a:pt x="198173" y="8756"/>
                  <a:pt x="170042" y="10240"/>
                </a:cubicBezTo>
                <a:cubicBezTo>
                  <a:pt x="141912" y="11724"/>
                  <a:pt x="117687" y="30584"/>
                  <a:pt x="109351" y="57491"/>
                </a:cubicBezTo>
                <a:cubicBezTo>
                  <a:pt x="91605" y="40093"/>
                  <a:pt x="64635" y="36195"/>
                  <a:pt x="42689" y="47855"/>
                </a:cubicBezTo>
                <a:cubicBezTo>
                  <a:pt x="20743" y="59515"/>
                  <a:pt x="8879" y="84048"/>
                  <a:pt x="13365" y="108491"/>
                </a:cubicBezTo>
                <a:cubicBezTo>
                  <a:pt x="17851" y="132934"/>
                  <a:pt x="37654" y="151655"/>
                  <a:pt x="62310" y="154763"/>
                </a:cubicBezTo>
                <a:lnTo>
                  <a:pt x="62310" y="154763"/>
                </a:lnTo>
                <a:cubicBezTo>
                  <a:pt x="62659" y="170176"/>
                  <a:pt x="69342" y="184765"/>
                  <a:pt x="80786" y="195096"/>
                </a:cubicBezTo>
                <a:cubicBezTo>
                  <a:pt x="92230" y="205427"/>
                  <a:pt x="107424" y="210588"/>
                  <a:pt x="122793" y="209363"/>
                </a:cubicBezTo>
                <a:cubicBezTo>
                  <a:pt x="141810" y="207271"/>
                  <a:pt x="158552" y="195887"/>
                  <a:pt x="167490" y="178972"/>
                </a:cubicBezTo>
                <a:cubicBezTo>
                  <a:pt x="171292" y="172347"/>
                  <a:pt x="173616" y="164979"/>
                  <a:pt x="174303" y="157371"/>
                </a:cubicBezTo>
                <a:cubicBezTo>
                  <a:pt x="175379" y="144538"/>
                  <a:pt x="186150" y="134694"/>
                  <a:pt x="199028" y="134773"/>
                </a:cubicBezTo>
                <a:cubicBezTo>
                  <a:pt x="227990" y="134773"/>
                  <a:pt x="260591" y="134890"/>
                  <a:pt x="286728" y="134773"/>
                </a:cubicBezTo>
                <a:cubicBezTo>
                  <a:pt x="306174" y="135104"/>
                  <a:pt x="322515" y="120234"/>
                  <a:pt x="324015" y="100843"/>
                </a:cubicBezTo>
                <a:cubicBezTo>
                  <a:pt x="324248" y="94621"/>
                  <a:pt x="323491" y="88401"/>
                  <a:pt x="321772" y="82416"/>
                </a:cubicBezTo>
                <a:close/>
                <a:moveTo>
                  <a:pt x="384996" y="252565"/>
                </a:moveTo>
                <a:cubicBezTo>
                  <a:pt x="385886" y="247798"/>
                  <a:pt x="386331" y="242959"/>
                  <a:pt x="386325" y="238109"/>
                </a:cubicBezTo>
                <a:lnTo>
                  <a:pt x="386325" y="238109"/>
                </a:lnTo>
                <a:cubicBezTo>
                  <a:pt x="386352" y="217274"/>
                  <a:pt x="378094" y="197283"/>
                  <a:pt x="363370" y="182541"/>
                </a:cubicBezTo>
                <a:cubicBezTo>
                  <a:pt x="348647" y="167798"/>
                  <a:pt x="328666" y="159515"/>
                  <a:pt x="307831" y="159515"/>
                </a:cubicBezTo>
                <a:lnTo>
                  <a:pt x="286628" y="159515"/>
                </a:lnTo>
                <a:lnTo>
                  <a:pt x="286628" y="136767"/>
                </a:lnTo>
                <a:moveTo>
                  <a:pt x="62310" y="156707"/>
                </a:moveTo>
                <a:lnTo>
                  <a:pt x="62310" y="362747"/>
                </a:lnTo>
                <a:cubicBezTo>
                  <a:pt x="62116" y="375335"/>
                  <a:pt x="72155" y="385701"/>
                  <a:pt x="84742" y="385910"/>
                </a:cubicBezTo>
                <a:lnTo>
                  <a:pt x="112275" y="385910"/>
                </a:lnTo>
                <a:moveTo>
                  <a:pt x="286628" y="230466"/>
                </a:moveTo>
                <a:lnTo>
                  <a:pt x="286628" y="206489"/>
                </a:lnTo>
                <a:lnTo>
                  <a:pt x="311270" y="206489"/>
                </a:lnTo>
                <a:cubicBezTo>
                  <a:pt x="328706" y="206489"/>
                  <a:pt x="342841" y="220623"/>
                  <a:pt x="342841" y="238059"/>
                </a:cubicBezTo>
                <a:lnTo>
                  <a:pt x="342841" y="238059"/>
                </a:lnTo>
                <a:cubicBezTo>
                  <a:pt x="342841" y="243101"/>
                  <a:pt x="341633" y="248069"/>
                  <a:pt x="339318" y="252549"/>
                </a:cubicBezTo>
                <a:moveTo>
                  <a:pt x="155892" y="342426"/>
                </a:moveTo>
                <a:cubicBezTo>
                  <a:pt x="155892" y="365368"/>
                  <a:pt x="174491" y="383966"/>
                  <a:pt x="197433" y="383966"/>
                </a:cubicBezTo>
                <a:cubicBezTo>
                  <a:pt x="220375" y="383966"/>
                  <a:pt x="238973" y="365368"/>
                  <a:pt x="238973" y="342426"/>
                </a:cubicBezTo>
                <a:lnTo>
                  <a:pt x="238973" y="300885"/>
                </a:lnTo>
                <a:cubicBezTo>
                  <a:pt x="238973" y="277943"/>
                  <a:pt x="220375" y="259345"/>
                  <a:pt x="197433" y="259345"/>
                </a:cubicBezTo>
                <a:cubicBezTo>
                  <a:pt x="174491" y="259345"/>
                  <a:pt x="155892" y="277943"/>
                  <a:pt x="155892" y="300885"/>
                </a:cubicBezTo>
                <a:close/>
                <a:moveTo>
                  <a:pt x="303245" y="380377"/>
                </a:moveTo>
                <a:lnTo>
                  <a:pt x="361401" y="297296"/>
                </a:lnTo>
                <a:moveTo>
                  <a:pt x="353093" y="372069"/>
                </a:moveTo>
                <a:cubicBezTo>
                  <a:pt x="353093" y="381246"/>
                  <a:pt x="360532" y="388685"/>
                  <a:pt x="369709" y="388685"/>
                </a:cubicBezTo>
                <a:cubicBezTo>
                  <a:pt x="378886" y="388685"/>
                  <a:pt x="386325" y="381246"/>
                  <a:pt x="386325" y="372069"/>
                </a:cubicBezTo>
                <a:cubicBezTo>
                  <a:pt x="386325" y="362892"/>
                  <a:pt x="378886" y="355453"/>
                  <a:pt x="369709" y="355453"/>
                </a:cubicBezTo>
                <a:cubicBezTo>
                  <a:pt x="360532" y="355453"/>
                  <a:pt x="353093" y="362892"/>
                  <a:pt x="353093" y="372069"/>
                </a:cubicBezTo>
                <a:moveTo>
                  <a:pt x="278320" y="305604"/>
                </a:moveTo>
                <a:cubicBezTo>
                  <a:pt x="278320" y="314781"/>
                  <a:pt x="285760" y="322220"/>
                  <a:pt x="294937" y="322220"/>
                </a:cubicBezTo>
                <a:cubicBezTo>
                  <a:pt x="304113" y="322220"/>
                  <a:pt x="311553" y="314781"/>
                  <a:pt x="311553" y="305604"/>
                </a:cubicBezTo>
                <a:cubicBezTo>
                  <a:pt x="311553" y="296427"/>
                  <a:pt x="304113" y="288988"/>
                  <a:pt x="294937" y="288988"/>
                </a:cubicBezTo>
                <a:cubicBezTo>
                  <a:pt x="285760" y="288988"/>
                  <a:pt x="278320" y="296427"/>
                  <a:pt x="278320" y="305604"/>
                </a:cubicBezTo>
                <a:moveTo>
                  <a:pt x="0" y="0"/>
                </a:moveTo>
                <a:moveTo>
                  <a:pt x="238973" y="342426"/>
                </a:moveTo>
                <a:lnTo>
                  <a:pt x="155892" y="300885"/>
                </a:lnTo>
              </a:path>
            </a:pathLst>
          </a:custGeom>
          <a:noFill/>
          <a:ln w="132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55823" y="2985791"/>
            <a:ext cx="382171" cy="382171"/>
          </a:xfrm>
          <a:custGeom>
            <a:avLst/>
            <a:gdLst/>
            <a:ahLst/>
            <a:cxnLst/>
            <a:rect l="0" t="0" r="0" b="0"/>
            <a:pathLst>
              <a:path w="382171" h="382171">
                <a:moveTo>
                  <a:pt x="33232" y="0"/>
                </a:moveTo>
                <a:lnTo>
                  <a:pt x="348939" y="0"/>
                </a:lnTo>
                <a:cubicBezTo>
                  <a:pt x="348939" y="0"/>
                  <a:pt x="382171" y="0"/>
                  <a:pt x="382171" y="33232"/>
                </a:cubicBezTo>
                <a:lnTo>
                  <a:pt x="382171" y="348939"/>
                </a:lnTo>
                <a:cubicBezTo>
                  <a:pt x="382171" y="348939"/>
                  <a:pt x="382171" y="382171"/>
                  <a:pt x="348939" y="382171"/>
                </a:cubicBezTo>
                <a:lnTo>
                  <a:pt x="33232" y="382171"/>
                </a:lnTo>
                <a:cubicBezTo>
                  <a:pt x="33232" y="382171"/>
                  <a:pt x="0" y="382171"/>
                  <a:pt x="0" y="348939"/>
                </a:cubicBezTo>
                <a:lnTo>
                  <a:pt x="0" y="33232"/>
                </a:lnTo>
                <a:cubicBezTo>
                  <a:pt x="0" y="33232"/>
                  <a:pt x="0" y="0"/>
                  <a:pt x="33232" y="0"/>
                </a:cubicBezTo>
                <a:moveTo>
                  <a:pt x="216010" y="99697"/>
                </a:moveTo>
                <a:lnTo>
                  <a:pt x="382171" y="99697"/>
                </a:lnTo>
                <a:moveTo>
                  <a:pt x="0" y="99697"/>
                </a:moveTo>
                <a:lnTo>
                  <a:pt x="83080" y="99697"/>
                </a:lnTo>
                <a:moveTo>
                  <a:pt x="132929" y="66464"/>
                </a:moveTo>
                <a:cubicBezTo>
                  <a:pt x="123752" y="66464"/>
                  <a:pt x="116313" y="73903"/>
                  <a:pt x="116313" y="83080"/>
                </a:cubicBezTo>
                <a:lnTo>
                  <a:pt x="116313" y="116313"/>
                </a:lnTo>
                <a:lnTo>
                  <a:pt x="141237" y="157853"/>
                </a:lnTo>
                <a:lnTo>
                  <a:pt x="166161" y="116313"/>
                </a:lnTo>
                <a:lnTo>
                  <a:pt x="166161" y="83080"/>
                </a:lnTo>
                <a:cubicBezTo>
                  <a:pt x="166161" y="73903"/>
                  <a:pt x="158722" y="66464"/>
                  <a:pt x="149545" y="66464"/>
                </a:cubicBezTo>
                <a:close/>
                <a:moveTo>
                  <a:pt x="149545" y="66464"/>
                </a:moveTo>
                <a:lnTo>
                  <a:pt x="265858" y="66464"/>
                </a:lnTo>
                <a:cubicBezTo>
                  <a:pt x="275035" y="66464"/>
                  <a:pt x="282474" y="59025"/>
                  <a:pt x="282474" y="49848"/>
                </a:cubicBezTo>
                <a:lnTo>
                  <a:pt x="282474" y="0"/>
                </a:lnTo>
                <a:moveTo>
                  <a:pt x="116313" y="257550"/>
                </a:moveTo>
                <a:cubicBezTo>
                  <a:pt x="116313" y="298846"/>
                  <a:pt x="149790" y="332323"/>
                  <a:pt x="191085" y="332323"/>
                </a:cubicBezTo>
                <a:cubicBezTo>
                  <a:pt x="232381" y="332323"/>
                  <a:pt x="265858" y="298846"/>
                  <a:pt x="265858" y="257550"/>
                </a:cubicBezTo>
                <a:cubicBezTo>
                  <a:pt x="265858" y="216254"/>
                  <a:pt x="232381" y="182777"/>
                  <a:pt x="191085" y="182777"/>
                </a:cubicBezTo>
                <a:cubicBezTo>
                  <a:pt x="149790" y="182777"/>
                  <a:pt x="116313" y="216254"/>
                  <a:pt x="116313" y="257550"/>
                </a:cubicBezTo>
                <a:moveTo>
                  <a:pt x="191085" y="216010"/>
                </a:moveTo>
                <a:cubicBezTo>
                  <a:pt x="168143" y="216010"/>
                  <a:pt x="149545" y="234608"/>
                  <a:pt x="149545" y="257550"/>
                </a:cubicBezTo>
                <a:moveTo>
                  <a:pt x="103851" y="162007"/>
                </a:moveTo>
                <a:lnTo>
                  <a:pt x="116313" y="174469"/>
                </a:lnTo>
                <a:moveTo>
                  <a:pt x="83080" y="199394"/>
                </a:moveTo>
                <a:lnTo>
                  <a:pt x="99697" y="199394"/>
                </a:lnTo>
                <a:moveTo>
                  <a:pt x="83080" y="332323"/>
                </a:moveTo>
                <a:lnTo>
                  <a:pt x="83080" y="382171"/>
                </a:lnTo>
                <a:lnTo>
                  <a:pt x="299091" y="382171"/>
                </a:lnTo>
                <a:lnTo>
                  <a:pt x="299091" y="332323"/>
                </a:lnTo>
                <a:close/>
                <a:moveTo>
                  <a:pt x="49848" y="332323"/>
                </a:moveTo>
                <a:lnTo>
                  <a:pt x="332323" y="332323"/>
                </a:lnTo>
              </a:path>
            </a:pathLst>
          </a:custGeom>
          <a:noFill/>
          <a:ln w="1329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3705" y="4213722"/>
            <a:ext cx="1219972" cy="1595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unnel Display"/>
              </a:rPr>
              <a:t>Act of observing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19264" y="4453002"/>
            <a:ext cx="1588873" cy="23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The act of observing forces a</a:t>
            </a:r>
          </a:p>
          <a:p>
            <a:pPr algn="ctr">
              <a:lnSpc>
                <a:spcPct val="100000"/>
              </a:lnSpc>
              <a:spcBef>
                <a:spcPts val="102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choice.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4470" y="4213722"/>
            <a:ext cx="1364880" cy="1595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unnel Display"/>
              </a:rPr>
              <a:t>Collapse into 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3536" y="4453002"/>
            <a:ext cx="1406757" cy="2392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The qubit collapses into a</a:t>
            </a:r>
          </a:p>
          <a:p>
            <a:pPr algn="ctr">
              <a:lnSpc>
                <a:spcPct val="100000"/>
              </a:lnSpc>
              <a:spcBef>
                <a:spcPts val="102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definite state of 0 or 1.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72746" y="2443162"/>
            <a:ext cx="1180109" cy="1028700"/>
          </a:xfrm>
          <a:custGeom>
            <a:avLst/>
            <a:gdLst/>
            <a:ahLst/>
            <a:cxnLst/>
            <a:rect l="0" t="0" r="0" b="0"/>
            <a:pathLst>
              <a:path w="1180109" h="1028700">
                <a:moveTo>
                  <a:pt x="1122959" y="1028700"/>
                </a:moveTo>
                <a:lnTo>
                  <a:pt x="1142009" y="1028700"/>
                </a:lnTo>
                <a:cubicBezTo>
                  <a:pt x="1163050" y="1028700"/>
                  <a:pt x="1180109" y="1011640"/>
                  <a:pt x="1180109" y="990600"/>
                </a:cubicBezTo>
                <a:lnTo>
                  <a:pt x="1180109" y="38100"/>
                </a:lnTo>
                <a:cubicBezTo>
                  <a:pt x="1180109" y="17059"/>
                  <a:pt x="1163050" y="0"/>
                  <a:pt x="1142009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990600"/>
                </a:lnTo>
                <a:cubicBezTo>
                  <a:pt x="0" y="1011640"/>
                  <a:pt x="17059" y="1028700"/>
                  <a:pt x="38100" y="1028700"/>
                </a:cubicBezTo>
                <a:lnTo>
                  <a:pt x="1122959" y="1028700"/>
                </a:lnTo>
              </a:path>
            </a:pathLst>
          </a:custGeom>
          <a:solidFill>
            <a:srgbClr val="7E56FF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72746" y="2443162"/>
            <a:ext cx="1180104" cy="1028700"/>
          </a:xfrm>
          <a:custGeom>
            <a:avLst/>
            <a:gdLst/>
            <a:ahLst/>
            <a:cxnLst/>
            <a:rect l="0" t="0" r="0" b="0"/>
            <a:pathLst>
              <a:path w="1180104" h="1028700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971550"/>
                </a:lnTo>
                <a:moveTo>
                  <a:pt x="1180104" y="57150"/>
                </a:moveTo>
                <a:lnTo>
                  <a:pt x="1180104" y="971550"/>
                </a:lnTo>
                <a:moveTo>
                  <a:pt x="57150" y="0"/>
                </a:moveTo>
                <a:lnTo>
                  <a:pt x="1122954" y="0"/>
                </a:lnTo>
                <a:moveTo>
                  <a:pt x="57150" y="1028700"/>
                </a:moveTo>
                <a:lnTo>
                  <a:pt x="38100" y="1028700"/>
                </a:lnTo>
                <a:cubicBezTo>
                  <a:pt x="17058" y="1028700"/>
                  <a:pt x="0" y="1011641"/>
                  <a:pt x="0" y="990600"/>
                </a:cubicBezTo>
                <a:lnTo>
                  <a:pt x="0" y="971550"/>
                </a:lnTo>
                <a:moveTo>
                  <a:pt x="1122954" y="0"/>
                </a:moveTo>
                <a:lnTo>
                  <a:pt x="1142004" y="0"/>
                </a:lnTo>
                <a:cubicBezTo>
                  <a:pt x="1163046" y="0"/>
                  <a:pt x="1180104" y="17058"/>
                  <a:pt x="1180104" y="38100"/>
                </a:cubicBezTo>
                <a:lnTo>
                  <a:pt x="1180104" y="57150"/>
                </a:lnTo>
                <a:moveTo>
                  <a:pt x="1122954" y="1028700"/>
                </a:moveTo>
                <a:lnTo>
                  <a:pt x="57150" y="1028700"/>
                </a:lnTo>
                <a:moveTo>
                  <a:pt x="1122954" y="1028700"/>
                </a:moveTo>
                <a:lnTo>
                  <a:pt x="1142004" y="1028700"/>
                </a:lnTo>
                <a:cubicBezTo>
                  <a:pt x="1163046" y="1028700"/>
                  <a:pt x="1180104" y="1011641"/>
                  <a:pt x="1180104" y="990600"/>
                </a:cubicBezTo>
                <a:lnTo>
                  <a:pt x="1180104" y="971550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82529" y="1970682"/>
            <a:ext cx="1088726" cy="891578"/>
          </a:xfrm>
          <a:custGeom>
            <a:avLst/>
            <a:gdLst/>
            <a:ahLst/>
            <a:cxnLst/>
            <a:rect l="0" t="0" r="0" b="0"/>
            <a:pathLst>
              <a:path w="1088726" h="891578">
                <a:moveTo>
                  <a:pt x="1031576" y="891578"/>
                </a:moveTo>
                <a:lnTo>
                  <a:pt x="1050626" y="891578"/>
                </a:lnTo>
                <a:cubicBezTo>
                  <a:pt x="1071667" y="891578"/>
                  <a:pt x="1088726" y="874518"/>
                  <a:pt x="1088726" y="853478"/>
                </a:cubicBezTo>
                <a:lnTo>
                  <a:pt x="1088726" y="38100"/>
                </a:lnTo>
                <a:cubicBezTo>
                  <a:pt x="1088726" y="17059"/>
                  <a:pt x="1071667" y="0"/>
                  <a:pt x="1050626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853478"/>
                </a:lnTo>
                <a:cubicBezTo>
                  <a:pt x="0" y="874518"/>
                  <a:pt x="17059" y="891578"/>
                  <a:pt x="38100" y="891578"/>
                </a:cubicBezTo>
                <a:lnTo>
                  <a:pt x="1031576" y="891578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82529" y="1970682"/>
            <a:ext cx="1088724" cy="891580"/>
          </a:xfrm>
          <a:custGeom>
            <a:avLst/>
            <a:gdLst/>
            <a:ahLst/>
            <a:cxnLst/>
            <a:rect l="0" t="0" r="0" b="0"/>
            <a:pathLst>
              <a:path w="1088724" h="891580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834430"/>
                </a:lnTo>
                <a:moveTo>
                  <a:pt x="1088724" y="57150"/>
                </a:moveTo>
                <a:lnTo>
                  <a:pt x="1088724" y="834430"/>
                </a:lnTo>
                <a:moveTo>
                  <a:pt x="57150" y="0"/>
                </a:moveTo>
                <a:lnTo>
                  <a:pt x="1031574" y="0"/>
                </a:lnTo>
                <a:moveTo>
                  <a:pt x="57150" y="891580"/>
                </a:moveTo>
                <a:lnTo>
                  <a:pt x="38100" y="891580"/>
                </a:lnTo>
                <a:cubicBezTo>
                  <a:pt x="17058" y="891580"/>
                  <a:pt x="0" y="874521"/>
                  <a:pt x="0" y="853480"/>
                </a:cubicBezTo>
                <a:lnTo>
                  <a:pt x="0" y="834430"/>
                </a:lnTo>
                <a:moveTo>
                  <a:pt x="1031574" y="0"/>
                </a:moveTo>
                <a:lnTo>
                  <a:pt x="1050624" y="0"/>
                </a:lnTo>
                <a:cubicBezTo>
                  <a:pt x="1071665" y="0"/>
                  <a:pt x="1088724" y="17058"/>
                  <a:pt x="1088724" y="38100"/>
                </a:cubicBezTo>
                <a:lnTo>
                  <a:pt x="1088724" y="57150"/>
                </a:lnTo>
                <a:moveTo>
                  <a:pt x="1031574" y="891580"/>
                </a:moveTo>
                <a:lnTo>
                  <a:pt x="57150" y="891580"/>
                </a:lnTo>
                <a:moveTo>
                  <a:pt x="1031574" y="891580"/>
                </a:moveTo>
                <a:lnTo>
                  <a:pt x="1050624" y="891580"/>
                </a:lnTo>
                <a:cubicBezTo>
                  <a:pt x="1071665" y="891580"/>
                  <a:pt x="1088724" y="874521"/>
                  <a:pt x="1088724" y="853480"/>
                </a:cubicBezTo>
                <a:lnTo>
                  <a:pt x="1088724" y="834430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82529" y="3052762"/>
            <a:ext cx="1059761" cy="891578"/>
          </a:xfrm>
          <a:custGeom>
            <a:avLst/>
            <a:gdLst/>
            <a:ahLst/>
            <a:cxnLst/>
            <a:rect l="0" t="0" r="0" b="0"/>
            <a:pathLst>
              <a:path w="1059761" h="891578">
                <a:moveTo>
                  <a:pt x="1002611" y="891578"/>
                </a:moveTo>
                <a:lnTo>
                  <a:pt x="1021661" y="891578"/>
                </a:lnTo>
                <a:cubicBezTo>
                  <a:pt x="1042701" y="891578"/>
                  <a:pt x="1059761" y="874518"/>
                  <a:pt x="1059761" y="853478"/>
                </a:cubicBezTo>
                <a:lnTo>
                  <a:pt x="1059761" y="38100"/>
                </a:lnTo>
                <a:cubicBezTo>
                  <a:pt x="1059761" y="17059"/>
                  <a:pt x="1042701" y="0"/>
                  <a:pt x="1021661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853478"/>
                </a:lnTo>
                <a:cubicBezTo>
                  <a:pt x="0" y="874518"/>
                  <a:pt x="17059" y="891578"/>
                  <a:pt x="38100" y="891578"/>
                </a:cubicBezTo>
                <a:lnTo>
                  <a:pt x="1002611" y="891578"/>
                </a:lnTo>
              </a:path>
            </a:pathLst>
          </a:custGeom>
          <a:solidFill>
            <a:srgbClr val="7E56F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82529" y="3052762"/>
            <a:ext cx="1059758" cy="891580"/>
          </a:xfrm>
          <a:custGeom>
            <a:avLst/>
            <a:gdLst/>
            <a:ahLst/>
            <a:cxnLst/>
            <a:rect l="0" t="0" r="0" b="0"/>
            <a:pathLst>
              <a:path w="1059758" h="891580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834430"/>
                </a:lnTo>
                <a:moveTo>
                  <a:pt x="1059758" y="57150"/>
                </a:moveTo>
                <a:lnTo>
                  <a:pt x="1059758" y="834430"/>
                </a:lnTo>
                <a:moveTo>
                  <a:pt x="57150" y="0"/>
                </a:moveTo>
                <a:lnTo>
                  <a:pt x="1002608" y="0"/>
                </a:lnTo>
                <a:moveTo>
                  <a:pt x="57150" y="891580"/>
                </a:moveTo>
                <a:lnTo>
                  <a:pt x="38100" y="891580"/>
                </a:lnTo>
                <a:cubicBezTo>
                  <a:pt x="17058" y="891580"/>
                  <a:pt x="0" y="874521"/>
                  <a:pt x="0" y="853480"/>
                </a:cubicBezTo>
                <a:lnTo>
                  <a:pt x="0" y="834430"/>
                </a:lnTo>
                <a:moveTo>
                  <a:pt x="1002608" y="0"/>
                </a:moveTo>
                <a:lnTo>
                  <a:pt x="1021658" y="0"/>
                </a:lnTo>
                <a:cubicBezTo>
                  <a:pt x="1042700" y="0"/>
                  <a:pt x="1059758" y="17058"/>
                  <a:pt x="1059758" y="38100"/>
                </a:cubicBezTo>
                <a:lnTo>
                  <a:pt x="1059758" y="57150"/>
                </a:lnTo>
                <a:moveTo>
                  <a:pt x="1002608" y="891580"/>
                </a:moveTo>
                <a:lnTo>
                  <a:pt x="57150" y="891580"/>
                </a:lnTo>
                <a:moveTo>
                  <a:pt x="1002608" y="891580"/>
                </a:moveTo>
                <a:lnTo>
                  <a:pt x="1021658" y="891580"/>
                </a:lnTo>
                <a:cubicBezTo>
                  <a:pt x="1042700" y="891580"/>
                  <a:pt x="1059758" y="874521"/>
                  <a:pt x="1059758" y="853480"/>
                </a:cubicBezTo>
                <a:lnTo>
                  <a:pt x="1059758" y="834430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38651" y="2383135"/>
            <a:ext cx="1158078" cy="1148753"/>
          </a:xfrm>
          <a:custGeom>
            <a:avLst/>
            <a:gdLst/>
            <a:ahLst/>
            <a:cxnLst/>
            <a:rect l="0" t="0" r="0" b="0"/>
            <a:pathLst>
              <a:path w="1158078" h="1148753">
                <a:moveTo>
                  <a:pt x="1100928" y="1148753"/>
                </a:moveTo>
                <a:lnTo>
                  <a:pt x="1119978" y="1148753"/>
                </a:lnTo>
                <a:cubicBezTo>
                  <a:pt x="1141018" y="1148753"/>
                  <a:pt x="1158078" y="1131693"/>
                  <a:pt x="1158078" y="1110653"/>
                </a:cubicBezTo>
                <a:lnTo>
                  <a:pt x="1158078" y="38100"/>
                </a:lnTo>
                <a:cubicBezTo>
                  <a:pt x="1158078" y="17059"/>
                  <a:pt x="1141018" y="0"/>
                  <a:pt x="1119978" y="0"/>
                </a:cubicBezTo>
                <a:lnTo>
                  <a:pt x="38100" y="0"/>
                </a:lnTo>
                <a:cubicBezTo>
                  <a:pt x="17059" y="0"/>
                  <a:pt x="0" y="17059"/>
                  <a:pt x="0" y="38100"/>
                </a:cubicBezTo>
                <a:lnTo>
                  <a:pt x="0" y="1110653"/>
                </a:lnTo>
                <a:cubicBezTo>
                  <a:pt x="0" y="1131693"/>
                  <a:pt x="17059" y="1148753"/>
                  <a:pt x="38100" y="1148753"/>
                </a:cubicBezTo>
                <a:lnTo>
                  <a:pt x="1100928" y="1148753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38651" y="2383135"/>
            <a:ext cx="1158077" cy="1148754"/>
          </a:xfrm>
          <a:custGeom>
            <a:avLst/>
            <a:gdLst/>
            <a:ahLst/>
            <a:cxnLst/>
            <a:rect l="0" t="0" r="0" b="0"/>
            <a:pathLst>
              <a:path w="1158077" h="1148754">
                <a:moveTo>
                  <a:pt x="57150" y="0"/>
                </a:moveTo>
                <a:lnTo>
                  <a:pt x="38100" y="0"/>
                </a:lnTo>
                <a:cubicBezTo>
                  <a:pt x="17058" y="0"/>
                  <a:pt x="0" y="17058"/>
                  <a:pt x="0" y="38100"/>
                </a:cubicBezTo>
                <a:lnTo>
                  <a:pt x="0" y="57150"/>
                </a:lnTo>
                <a:moveTo>
                  <a:pt x="0" y="57150"/>
                </a:moveTo>
                <a:lnTo>
                  <a:pt x="0" y="1091604"/>
                </a:lnTo>
                <a:moveTo>
                  <a:pt x="1158077" y="57150"/>
                </a:moveTo>
                <a:lnTo>
                  <a:pt x="1158077" y="1091604"/>
                </a:lnTo>
                <a:moveTo>
                  <a:pt x="57150" y="0"/>
                </a:moveTo>
                <a:lnTo>
                  <a:pt x="1100927" y="0"/>
                </a:lnTo>
                <a:moveTo>
                  <a:pt x="57150" y="1148754"/>
                </a:moveTo>
                <a:lnTo>
                  <a:pt x="38100" y="1148754"/>
                </a:lnTo>
                <a:cubicBezTo>
                  <a:pt x="17058" y="1148754"/>
                  <a:pt x="0" y="1131696"/>
                  <a:pt x="0" y="1110654"/>
                </a:cubicBezTo>
                <a:lnTo>
                  <a:pt x="0" y="1091604"/>
                </a:lnTo>
                <a:moveTo>
                  <a:pt x="1100927" y="0"/>
                </a:moveTo>
                <a:lnTo>
                  <a:pt x="1119977" y="0"/>
                </a:lnTo>
                <a:cubicBezTo>
                  <a:pt x="1141019" y="0"/>
                  <a:pt x="1158077" y="17058"/>
                  <a:pt x="1158077" y="38100"/>
                </a:cubicBezTo>
                <a:lnTo>
                  <a:pt x="1158077" y="57150"/>
                </a:lnTo>
                <a:moveTo>
                  <a:pt x="1100927" y="1148754"/>
                </a:moveTo>
                <a:lnTo>
                  <a:pt x="57150" y="1148754"/>
                </a:lnTo>
                <a:moveTo>
                  <a:pt x="1100927" y="1148754"/>
                </a:moveTo>
                <a:lnTo>
                  <a:pt x="1119977" y="1148754"/>
                </a:lnTo>
                <a:cubicBezTo>
                  <a:pt x="1141019" y="1148754"/>
                  <a:pt x="1158077" y="1131696"/>
                  <a:pt x="1158077" y="1110654"/>
                </a:cubicBezTo>
                <a:lnTo>
                  <a:pt x="1158077" y="1091604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3352851" y="2919412"/>
            <a:ext cx="666750" cy="76200"/>
            <a:chOff x="3352851" y="2919412"/>
            <a:chExt cx="666750" cy="76200"/>
          </a:xfrm>
        </p:grpSpPr>
        <p:sp>
          <p:nvSpPr>
            <p:cNvPr id="10" name="Rounded Rectangle 9"/>
            <p:cNvSpPr/>
            <p:nvPr/>
          </p:nvSpPr>
          <p:spPr>
            <a:xfrm>
              <a:off x="3352851" y="2957512"/>
              <a:ext cx="647700" cy="9525"/>
            </a:xfrm>
            <a:custGeom>
              <a:avLst/>
              <a:gdLst/>
              <a:ahLst/>
              <a:cxnLst/>
              <a:rect l="0" t="0" r="0" b="0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952926" y="2919412"/>
              <a:ext cx="66675" cy="76200"/>
            </a:xfrm>
            <a:custGeom>
              <a:avLst/>
              <a:gdLst/>
              <a:ahLst/>
              <a:cxnLst/>
              <a:rect l="0" t="0" r="0" b="0"/>
              <a:pathLst>
                <a:path w="66675" h="76200">
                  <a:moveTo>
                    <a:pt x="66675" y="38100"/>
                  </a:move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196729" y="2378373"/>
            <a:ext cx="666750" cy="579120"/>
            <a:chOff x="5196729" y="2378373"/>
            <a:chExt cx="666750" cy="579120"/>
          </a:xfrm>
        </p:grpSpPr>
        <p:sp>
          <p:nvSpPr>
            <p:cNvPr id="13" name="Rounded Rectangle 12"/>
            <p:cNvSpPr/>
            <p:nvPr/>
          </p:nvSpPr>
          <p:spPr>
            <a:xfrm>
              <a:off x="5196729" y="2416473"/>
              <a:ext cx="647700" cy="541020"/>
            </a:xfrm>
            <a:custGeom>
              <a:avLst/>
              <a:gdLst/>
              <a:ahLst/>
              <a:cxnLst/>
              <a:rect l="0" t="0" r="0" b="0"/>
              <a:pathLst>
                <a:path w="647700" h="541020">
                  <a:moveTo>
                    <a:pt x="0" y="541020"/>
                  </a:moveTo>
                  <a:lnTo>
                    <a:pt x="228600" y="541020"/>
                  </a:lnTo>
                  <a:cubicBezTo>
                    <a:pt x="291750" y="541020"/>
                    <a:pt x="342900" y="489870"/>
                    <a:pt x="342900" y="426719"/>
                  </a:cubicBezTo>
                  <a:lnTo>
                    <a:pt x="342900" y="114300"/>
                  </a:lnTo>
                  <a:cubicBezTo>
                    <a:pt x="342900" y="51149"/>
                    <a:pt x="394049" y="0"/>
                    <a:pt x="457200" y="0"/>
                  </a:cubicBez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796804" y="2378373"/>
              <a:ext cx="66675" cy="76200"/>
            </a:xfrm>
            <a:custGeom>
              <a:avLst/>
              <a:gdLst/>
              <a:ahLst/>
              <a:cxnLst/>
              <a:rect l="0" t="0" r="0" b="0"/>
              <a:pathLst>
                <a:path w="66675" h="76200">
                  <a:moveTo>
                    <a:pt x="66675" y="38100"/>
                  </a:move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196729" y="2957512"/>
            <a:ext cx="666750" cy="579120"/>
            <a:chOff x="5196729" y="2957512"/>
            <a:chExt cx="666750" cy="579120"/>
          </a:xfrm>
        </p:grpSpPr>
        <p:sp>
          <p:nvSpPr>
            <p:cNvPr id="16" name="Rounded Rectangle 15"/>
            <p:cNvSpPr/>
            <p:nvPr/>
          </p:nvSpPr>
          <p:spPr>
            <a:xfrm>
              <a:off x="5196729" y="2957512"/>
              <a:ext cx="647700" cy="541020"/>
            </a:xfrm>
            <a:custGeom>
              <a:avLst/>
              <a:gdLst/>
              <a:ahLst/>
              <a:cxnLst/>
              <a:rect l="0" t="0" r="0" b="0"/>
              <a:pathLst>
                <a:path w="647700" h="541020">
                  <a:moveTo>
                    <a:pt x="0" y="0"/>
                  </a:moveTo>
                  <a:lnTo>
                    <a:pt x="228600" y="0"/>
                  </a:lnTo>
                  <a:cubicBezTo>
                    <a:pt x="291750" y="0"/>
                    <a:pt x="342900" y="51149"/>
                    <a:pt x="342900" y="114300"/>
                  </a:cubicBezTo>
                  <a:lnTo>
                    <a:pt x="342900" y="426719"/>
                  </a:lnTo>
                  <a:cubicBezTo>
                    <a:pt x="342900" y="489870"/>
                    <a:pt x="394049" y="541020"/>
                    <a:pt x="457200" y="541020"/>
                  </a:cubicBezTo>
                  <a:lnTo>
                    <a:pt x="647700" y="54102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796804" y="3460432"/>
              <a:ext cx="66675" cy="76200"/>
            </a:xfrm>
            <a:custGeom>
              <a:avLst/>
              <a:gdLst/>
              <a:ahLst/>
              <a:cxnLst/>
              <a:rect l="0" t="0" r="0" b="0"/>
              <a:pathLst>
                <a:path w="66675" h="76200">
                  <a:moveTo>
                    <a:pt x="66675" y="38100"/>
                  </a:move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225060" y="371475"/>
            <a:ext cx="6693879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"/>
              </a:rPr>
              <a:t>Quantum Gates Logic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8498" y="2528887"/>
            <a:ext cx="221456" cy="221456"/>
          </a:xfrm>
          <a:custGeom>
            <a:avLst/>
            <a:gdLst/>
            <a:ahLst/>
            <a:cxnLst/>
            <a:rect l="0" t="0" r="0" b="0"/>
            <a:pathLst>
              <a:path w="221456" h="221456">
                <a:moveTo>
                  <a:pt x="65246" y="221456"/>
                </a:moveTo>
                <a:lnTo>
                  <a:pt x="160496" y="221456"/>
                </a:lnTo>
                <a:moveTo>
                  <a:pt x="65246" y="7143"/>
                </a:moveTo>
                <a:lnTo>
                  <a:pt x="160496" y="7143"/>
                </a:lnTo>
                <a:moveTo>
                  <a:pt x="93821" y="40005"/>
                </a:moveTo>
                <a:cubicBezTo>
                  <a:pt x="92769" y="40005"/>
                  <a:pt x="91916" y="39152"/>
                  <a:pt x="91916" y="38100"/>
                </a:cubicBezTo>
                <a:cubicBezTo>
                  <a:pt x="91916" y="37048"/>
                  <a:pt x="92769" y="36195"/>
                  <a:pt x="93821" y="36195"/>
                </a:cubicBezTo>
                <a:moveTo>
                  <a:pt x="93821" y="40005"/>
                </a:moveTo>
                <a:cubicBezTo>
                  <a:pt x="94873" y="40005"/>
                  <a:pt x="95726" y="39152"/>
                  <a:pt x="95726" y="38100"/>
                </a:cubicBezTo>
                <a:cubicBezTo>
                  <a:pt x="95726" y="37048"/>
                  <a:pt x="94873" y="36195"/>
                  <a:pt x="93821" y="36195"/>
                </a:cubicBezTo>
                <a:moveTo>
                  <a:pt x="131921" y="40005"/>
                </a:moveTo>
                <a:cubicBezTo>
                  <a:pt x="130869" y="40005"/>
                  <a:pt x="130016" y="39152"/>
                  <a:pt x="130016" y="38100"/>
                </a:cubicBezTo>
                <a:cubicBezTo>
                  <a:pt x="130016" y="37048"/>
                  <a:pt x="130869" y="36195"/>
                  <a:pt x="131921" y="36195"/>
                </a:cubicBezTo>
                <a:moveTo>
                  <a:pt x="131921" y="40005"/>
                </a:moveTo>
                <a:cubicBezTo>
                  <a:pt x="132972" y="40005"/>
                  <a:pt x="133826" y="39152"/>
                  <a:pt x="133826" y="38100"/>
                </a:cubicBezTo>
                <a:cubicBezTo>
                  <a:pt x="133826" y="37048"/>
                  <a:pt x="132972" y="36195"/>
                  <a:pt x="131921" y="36195"/>
                </a:cubicBezTo>
                <a:moveTo>
                  <a:pt x="93821" y="78105"/>
                </a:moveTo>
                <a:cubicBezTo>
                  <a:pt x="92769" y="78105"/>
                  <a:pt x="91916" y="77252"/>
                  <a:pt x="91916" y="76200"/>
                </a:cubicBezTo>
                <a:cubicBezTo>
                  <a:pt x="91916" y="75148"/>
                  <a:pt x="92769" y="74295"/>
                  <a:pt x="93821" y="74295"/>
                </a:cubicBezTo>
                <a:moveTo>
                  <a:pt x="93821" y="78105"/>
                </a:moveTo>
                <a:cubicBezTo>
                  <a:pt x="94873" y="78105"/>
                  <a:pt x="95726" y="77252"/>
                  <a:pt x="95726" y="76200"/>
                </a:cubicBezTo>
                <a:cubicBezTo>
                  <a:pt x="95726" y="75148"/>
                  <a:pt x="94873" y="74295"/>
                  <a:pt x="93821" y="74295"/>
                </a:cubicBezTo>
                <a:moveTo>
                  <a:pt x="131921" y="78105"/>
                </a:moveTo>
                <a:cubicBezTo>
                  <a:pt x="130869" y="78105"/>
                  <a:pt x="130016" y="77252"/>
                  <a:pt x="130016" y="76200"/>
                </a:cubicBezTo>
                <a:cubicBezTo>
                  <a:pt x="130016" y="75148"/>
                  <a:pt x="130869" y="74295"/>
                  <a:pt x="131921" y="74295"/>
                </a:cubicBezTo>
                <a:moveTo>
                  <a:pt x="131921" y="78105"/>
                </a:moveTo>
                <a:cubicBezTo>
                  <a:pt x="132972" y="78105"/>
                  <a:pt x="133826" y="77252"/>
                  <a:pt x="133826" y="76200"/>
                </a:cubicBezTo>
                <a:cubicBezTo>
                  <a:pt x="133826" y="75148"/>
                  <a:pt x="132972" y="74295"/>
                  <a:pt x="131921" y="74295"/>
                </a:cubicBezTo>
                <a:moveTo>
                  <a:pt x="93821" y="116205"/>
                </a:moveTo>
                <a:cubicBezTo>
                  <a:pt x="92769" y="116205"/>
                  <a:pt x="91916" y="115352"/>
                  <a:pt x="91916" y="114300"/>
                </a:cubicBezTo>
                <a:cubicBezTo>
                  <a:pt x="91916" y="113248"/>
                  <a:pt x="92769" y="112394"/>
                  <a:pt x="93821" y="112394"/>
                </a:cubicBezTo>
                <a:moveTo>
                  <a:pt x="93821" y="116205"/>
                </a:moveTo>
                <a:cubicBezTo>
                  <a:pt x="94873" y="116205"/>
                  <a:pt x="95726" y="115352"/>
                  <a:pt x="95726" y="114300"/>
                </a:cubicBezTo>
                <a:cubicBezTo>
                  <a:pt x="95726" y="113248"/>
                  <a:pt x="94873" y="112394"/>
                  <a:pt x="93821" y="112394"/>
                </a:cubicBezTo>
                <a:moveTo>
                  <a:pt x="131921" y="116205"/>
                </a:moveTo>
                <a:cubicBezTo>
                  <a:pt x="130869" y="116205"/>
                  <a:pt x="130016" y="115352"/>
                  <a:pt x="130016" y="114300"/>
                </a:cubicBezTo>
                <a:cubicBezTo>
                  <a:pt x="130016" y="113248"/>
                  <a:pt x="130869" y="112394"/>
                  <a:pt x="131921" y="112394"/>
                </a:cubicBezTo>
                <a:moveTo>
                  <a:pt x="131921" y="116205"/>
                </a:moveTo>
                <a:cubicBezTo>
                  <a:pt x="132972" y="116205"/>
                  <a:pt x="133826" y="115352"/>
                  <a:pt x="133826" y="114300"/>
                </a:cubicBezTo>
                <a:cubicBezTo>
                  <a:pt x="133826" y="113248"/>
                  <a:pt x="132972" y="112394"/>
                  <a:pt x="131921" y="112394"/>
                </a:cubicBezTo>
                <a:moveTo>
                  <a:pt x="93821" y="154305"/>
                </a:moveTo>
                <a:cubicBezTo>
                  <a:pt x="92769" y="154305"/>
                  <a:pt x="91916" y="153452"/>
                  <a:pt x="91916" y="152400"/>
                </a:cubicBezTo>
                <a:cubicBezTo>
                  <a:pt x="91916" y="151348"/>
                  <a:pt x="92769" y="150494"/>
                  <a:pt x="93821" y="150494"/>
                </a:cubicBezTo>
                <a:moveTo>
                  <a:pt x="93821" y="154305"/>
                </a:moveTo>
                <a:cubicBezTo>
                  <a:pt x="94873" y="154305"/>
                  <a:pt x="95726" y="153452"/>
                  <a:pt x="95726" y="152400"/>
                </a:cubicBezTo>
                <a:cubicBezTo>
                  <a:pt x="95726" y="151348"/>
                  <a:pt x="94873" y="150494"/>
                  <a:pt x="93821" y="150494"/>
                </a:cubicBezTo>
                <a:moveTo>
                  <a:pt x="131921" y="154305"/>
                </a:moveTo>
                <a:cubicBezTo>
                  <a:pt x="130869" y="154305"/>
                  <a:pt x="130016" y="153452"/>
                  <a:pt x="130016" y="152400"/>
                </a:cubicBezTo>
                <a:cubicBezTo>
                  <a:pt x="130016" y="151348"/>
                  <a:pt x="130869" y="150494"/>
                  <a:pt x="131921" y="150494"/>
                </a:cubicBezTo>
                <a:moveTo>
                  <a:pt x="131921" y="154305"/>
                </a:moveTo>
                <a:cubicBezTo>
                  <a:pt x="132972" y="154305"/>
                  <a:pt x="133826" y="153452"/>
                  <a:pt x="133826" y="152400"/>
                </a:cubicBezTo>
                <a:cubicBezTo>
                  <a:pt x="133826" y="151348"/>
                  <a:pt x="132972" y="150494"/>
                  <a:pt x="131921" y="150494"/>
                </a:cubicBezTo>
                <a:moveTo>
                  <a:pt x="93821" y="192405"/>
                </a:moveTo>
                <a:cubicBezTo>
                  <a:pt x="92769" y="192405"/>
                  <a:pt x="91916" y="191552"/>
                  <a:pt x="91916" y="190500"/>
                </a:cubicBezTo>
                <a:cubicBezTo>
                  <a:pt x="91916" y="189448"/>
                  <a:pt x="92769" y="188594"/>
                  <a:pt x="93821" y="188594"/>
                </a:cubicBezTo>
                <a:moveTo>
                  <a:pt x="93821" y="192405"/>
                </a:moveTo>
                <a:cubicBezTo>
                  <a:pt x="94873" y="192405"/>
                  <a:pt x="95726" y="191552"/>
                  <a:pt x="95726" y="190500"/>
                </a:cubicBezTo>
                <a:cubicBezTo>
                  <a:pt x="95726" y="189448"/>
                  <a:pt x="94873" y="188594"/>
                  <a:pt x="93821" y="188594"/>
                </a:cubicBezTo>
                <a:moveTo>
                  <a:pt x="131921" y="192405"/>
                </a:moveTo>
                <a:cubicBezTo>
                  <a:pt x="130869" y="192405"/>
                  <a:pt x="130016" y="191552"/>
                  <a:pt x="130016" y="190500"/>
                </a:cubicBezTo>
                <a:cubicBezTo>
                  <a:pt x="130016" y="189448"/>
                  <a:pt x="130869" y="188594"/>
                  <a:pt x="131921" y="188594"/>
                </a:cubicBezTo>
                <a:moveTo>
                  <a:pt x="131921" y="192405"/>
                </a:moveTo>
                <a:cubicBezTo>
                  <a:pt x="132972" y="192405"/>
                  <a:pt x="133826" y="191552"/>
                  <a:pt x="133826" y="190500"/>
                </a:cubicBezTo>
                <a:cubicBezTo>
                  <a:pt x="133826" y="189448"/>
                  <a:pt x="132972" y="188594"/>
                  <a:pt x="131921" y="188594"/>
                </a:cubicBezTo>
                <a:moveTo>
                  <a:pt x="0" y="0"/>
                </a:moveTo>
                <a:moveTo>
                  <a:pt x="55721" y="142875"/>
                </a:moveTo>
                <a:lnTo>
                  <a:pt x="7143" y="160972"/>
                </a:lnTo>
                <a:moveTo>
                  <a:pt x="0" y="0"/>
                </a:moveTo>
                <a:moveTo>
                  <a:pt x="55721" y="85724"/>
                </a:moveTo>
                <a:lnTo>
                  <a:pt x="7143" y="67627"/>
                </a:lnTo>
                <a:moveTo>
                  <a:pt x="168116" y="114300"/>
                </a:moveTo>
                <a:lnTo>
                  <a:pt x="221270" y="114300"/>
                </a:lnTo>
                <a:moveTo>
                  <a:pt x="0" y="0"/>
                </a:moveTo>
                <a:moveTo>
                  <a:pt x="197643" y="90487"/>
                </a:moveTo>
                <a:lnTo>
                  <a:pt x="221456" y="114300"/>
                </a:lnTo>
                <a:lnTo>
                  <a:pt x="197643" y="138112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266" y="2814732"/>
            <a:ext cx="973054" cy="2741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9931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Funnel Display"/>
              </a:rPr>
              <a:t>Quantum Gate</a:t>
            </a:r>
          </a:p>
          <a:p>
            <a:pPr algn="ctr">
              <a:lnSpc>
                <a:spcPct val="99931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Funnel Display"/>
              </a:rPr>
              <a:t>Operation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4728" y="3146068"/>
            <a:ext cx="1116142" cy="2400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Manipulating qubits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to perform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2591" y="2056407"/>
            <a:ext cx="218795" cy="192881"/>
          </a:xfrm>
          <a:custGeom>
            <a:avLst/>
            <a:gdLst/>
            <a:ahLst/>
            <a:cxnLst/>
            <a:rect l="0" t="0" r="0" b="0"/>
            <a:pathLst>
              <a:path w="218795" h="192881">
                <a:moveTo>
                  <a:pt x="0" y="0"/>
                </a:moveTo>
                <a:moveTo>
                  <a:pt x="9804" y="192881"/>
                </a:moveTo>
                <a:lnTo>
                  <a:pt x="40183" y="192881"/>
                </a:lnTo>
                <a:cubicBezTo>
                  <a:pt x="61225" y="192881"/>
                  <a:pt x="78283" y="175822"/>
                  <a:pt x="78283" y="154781"/>
                </a:cubicBezTo>
                <a:lnTo>
                  <a:pt x="78283" y="73818"/>
                </a:lnTo>
                <a:cubicBezTo>
                  <a:pt x="78283" y="52776"/>
                  <a:pt x="61225" y="35718"/>
                  <a:pt x="40183" y="35718"/>
                </a:cubicBezTo>
                <a:lnTo>
                  <a:pt x="9804" y="35718"/>
                </a:lnTo>
                <a:moveTo>
                  <a:pt x="0" y="0"/>
                </a:moveTo>
                <a:moveTo>
                  <a:pt x="218795" y="192881"/>
                </a:moveTo>
                <a:lnTo>
                  <a:pt x="188415" y="192881"/>
                </a:lnTo>
                <a:cubicBezTo>
                  <a:pt x="167374" y="192881"/>
                  <a:pt x="150316" y="175822"/>
                  <a:pt x="150316" y="154781"/>
                </a:cubicBezTo>
                <a:lnTo>
                  <a:pt x="150316" y="73818"/>
                </a:lnTo>
                <a:cubicBezTo>
                  <a:pt x="150316" y="52776"/>
                  <a:pt x="167374" y="35718"/>
                  <a:pt x="188415" y="35718"/>
                </a:cubicBezTo>
                <a:lnTo>
                  <a:pt x="218795" y="35718"/>
                </a:lnTo>
                <a:moveTo>
                  <a:pt x="0" y="0"/>
                </a:moveTo>
                <a:moveTo>
                  <a:pt x="9804" y="114300"/>
                </a:moveTo>
                <a:lnTo>
                  <a:pt x="218795" y="1143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1365" y="2342156"/>
            <a:ext cx="1011052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Funnel Display"/>
              </a:rPr>
              <a:t>Hadamard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8025" y="2536468"/>
            <a:ext cx="977742" cy="2400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Creates a state of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superposition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8108" y="3138487"/>
            <a:ext cx="209550" cy="221456"/>
          </a:xfrm>
          <a:custGeom>
            <a:avLst/>
            <a:gdLst/>
            <a:ahLst/>
            <a:cxnLst/>
            <a:rect l="0" t="0" r="0" b="0"/>
            <a:pathLst>
              <a:path w="209550" h="221456">
                <a:moveTo>
                  <a:pt x="47625" y="64293"/>
                </a:moveTo>
                <a:cubicBezTo>
                  <a:pt x="63406" y="64293"/>
                  <a:pt x="76200" y="51500"/>
                  <a:pt x="76200" y="35718"/>
                </a:cubicBezTo>
                <a:cubicBezTo>
                  <a:pt x="76200" y="19937"/>
                  <a:pt x="63406" y="7143"/>
                  <a:pt x="47625" y="7143"/>
                </a:cubicBezTo>
                <a:cubicBezTo>
                  <a:pt x="31843" y="7143"/>
                  <a:pt x="19050" y="19937"/>
                  <a:pt x="19050" y="35718"/>
                </a:cubicBezTo>
                <a:cubicBezTo>
                  <a:pt x="19050" y="51500"/>
                  <a:pt x="31843" y="64293"/>
                  <a:pt x="47625" y="64293"/>
                </a:cubicBezTo>
                <a:close/>
                <a:moveTo>
                  <a:pt x="47625" y="221456"/>
                </a:moveTo>
                <a:cubicBezTo>
                  <a:pt x="63406" y="221456"/>
                  <a:pt x="76200" y="208663"/>
                  <a:pt x="76200" y="192881"/>
                </a:cubicBezTo>
                <a:cubicBezTo>
                  <a:pt x="76200" y="177099"/>
                  <a:pt x="63406" y="164306"/>
                  <a:pt x="47625" y="164306"/>
                </a:cubicBezTo>
                <a:cubicBezTo>
                  <a:pt x="31843" y="164306"/>
                  <a:pt x="19050" y="177099"/>
                  <a:pt x="19050" y="192881"/>
                </a:cubicBezTo>
                <a:cubicBezTo>
                  <a:pt x="19050" y="208663"/>
                  <a:pt x="31843" y="221456"/>
                  <a:pt x="47625" y="221456"/>
                </a:cubicBezTo>
                <a:close/>
                <a:moveTo>
                  <a:pt x="47625" y="64293"/>
                </a:moveTo>
                <a:lnTo>
                  <a:pt x="47625" y="164306"/>
                </a:lnTo>
                <a:moveTo>
                  <a:pt x="180975" y="221456"/>
                </a:moveTo>
                <a:cubicBezTo>
                  <a:pt x="196756" y="221456"/>
                  <a:pt x="209550" y="208663"/>
                  <a:pt x="209550" y="192881"/>
                </a:cubicBezTo>
                <a:cubicBezTo>
                  <a:pt x="209550" y="177099"/>
                  <a:pt x="196756" y="164306"/>
                  <a:pt x="180975" y="164306"/>
                </a:cubicBezTo>
                <a:cubicBezTo>
                  <a:pt x="165193" y="164306"/>
                  <a:pt x="152400" y="177099"/>
                  <a:pt x="152400" y="192881"/>
                </a:cubicBezTo>
                <a:cubicBezTo>
                  <a:pt x="152400" y="208663"/>
                  <a:pt x="165193" y="221456"/>
                  <a:pt x="180975" y="221456"/>
                </a:cubicBezTo>
                <a:close/>
                <a:moveTo>
                  <a:pt x="180975" y="84143"/>
                </a:moveTo>
                <a:lnTo>
                  <a:pt x="180975" y="164306"/>
                </a:lnTo>
                <a:moveTo>
                  <a:pt x="0" y="0"/>
                </a:moveTo>
                <a:moveTo>
                  <a:pt x="209550" y="64293"/>
                </a:moveTo>
                <a:lnTo>
                  <a:pt x="152400" y="7143"/>
                </a:lnTo>
                <a:moveTo>
                  <a:pt x="0" y="0"/>
                </a:moveTo>
                <a:moveTo>
                  <a:pt x="152400" y="64293"/>
                </a:moveTo>
                <a:lnTo>
                  <a:pt x="209550" y="7143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61548" y="3424237"/>
            <a:ext cx="70173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Funnel Display"/>
              </a:rPr>
              <a:t>CNOT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3542" y="3618549"/>
            <a:ext cx="977742" cy="2400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Creates a state of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entanglement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03390" y="2468860"/>
            <a:ext cx="209214" cy="215093"/>
          </a:xfrm>
          <a:custGeom>
            <a:avLst/>
            <a:gdLst/>
            <a:ahLst/>
            <a:cxnLst/>
            <a:rect l="0" t="0" r="0" b="0"/>
            <a:pathLst>
              <a:path w="209214" h="215093">
                <a:moveTo>
                  <a:pt x="0" y="0"/>
                </a:moveTo>
                <a:moveTo>
                  <a:pt x="114300" y="13506"/>
                </a:moveTo>
                <a:lnTo>
                  <a:pt x="114300" y="141042"/>
                </a:lnTo>
                <a:moveTo>
                  <a:pt x="0" y="0"/>
                </a:moveTo>
                <a:moveTo>
                  <a:pt x="114300" y="161813"/>
                </a:moveTo>
                <a:lnTo>
                  <a:pt x="114300" y="215093"/>
                </a:lnTo>
                <a:moveTo>
                  <a:pt x="167486" y="73149"/>
                </a:moveTo>
                <a:cubicBezTo>
                  <a:pt x="192667" y="81869"/>
                  <a:pt x="209214" y="96609"/>
                  <a:pt x="209214" y="113323"/>
                </a:cubicBezTo>
                <a:cubicBezTo>
                  <a:pt x="209214" y="140107"/>
                  <a:pt x="166719" y="161821"/>
                  <a:pt x="114299" y="161821"/>
                </a:cubicBezTo>
                <a:cubicBezTo>
                  <a:pt x="105359" y="161821"/>
                  <a:pt x="96709" y="161189"/>
                  <a:pt x="88509" y="160009"/>
                </a:cubicBezTo>
                <a:moveTo>
                  <a:pt x="61112" y="73149"/>
                </a:moveTo>
                <a:cubicBezTo>
                  <a:pt x="52700" y="76062"/>
                  <a:pt x="45251" y="79647"/>
                  <a:pt x="39061" y="83752"/>
                </a:cubicBezTo>
                <a:moveTo>
                  <a:pt x="61112" y="153497"/>
                </a:moveTo>
                <a:cubicBezTo>
                  <a:pt x="52700" y="150584"/>
                  <a:pt x="45251" y="146999"/>
                  <a:pt x="39061" y="142894"/>
                </a:cubicBezTo>
                <a:moveTo>
                  <a:pt x="22592" y="125872"/>
                </a:moveTo>
                <a:cubicBezTo>
                  <a:pt x="20499" y="121870"/>
                  <a:pt x="19383" y="117663"/>
                  <a:pt x="19383" y="113323"/>
                </a:cubicBezTo>
                <a:cubicBezTo>
                  <a:pt x="19383" y="108983"/>
                  <a:pt x="20499" y="104776"/>
                  <a:pt x="22592" y="100773"/>
                </a:cubicBezTo>
                <a:moveTo>
                  <a:pt x="0" y="0"/>
                </a:moveTo>
                <a:moveTo>
                  <a:pt x="175411" y="100613"/>
                </a:moveTo>
                <a:lnTo>
                  <a:pt x="165463" y="71313"/>
                </a:lnTo>
                <a:lnTo>
                  <a:pt x="194768" y="61367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3758" y="2754705"/>
            <a:ext cx="867854" cy="2741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9931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Funnel Display"/>
              </a:rPr>
              <a:t>Bloch Sphere</a:t>
            </a:r>
          </a:p>
          <a:p>
            <a:pPr algn="ctr">
              <a:lnSpc>
                <a:spcPct val="99931"/>
              </a:lnSpc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  <a:latin typeface="Funnel Display"/>
              </a:rPr>
              <a:t>Rotation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2282" y="3086042"/>
            <a:ext cx="1090807" cy="3601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Rotating the qubit's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state on the Bloch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00" b="0">
                <a:solidFill>
                  <a:srgbClr val="FFFFFF"/>
                </a:solidFill>
                <a:latin typeface="Funnel Display"/>
              </a:rPr>
              <a:t>sphere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57700" y="2500312"/>
            <a:ext cx="2628900" cy="1600200"/>
          </a:xfrm>
          <a:custGeom>
            <a:avLst/>
            <a:gdLst/>
            <a:ahLst/>
            <a:cxnLst/>
            <a:rect l="0" t="0" r="0" b="0"/>
            <a:pathLst>
              <a:path w="2628900" h="1600200">
                <a:moveTo>
                  <a:pt x="0" y="1600200"/>
                </a:moveTo>
                <a:lnTo>
                  <a:pt x="0" y="1371600"/>
                </a:lnTo>
                <a:lnTo>
                  <a:pt x="342900" y="1371600"/>
                </a:lnTo>
                <a:lnTo>
                  <a:pt x="342900" y="1143000"/>
                </a:lnTo>
                <a:lnTo>
                  <a:pt x="685800" y="1143000"/>
                </a:lnTo>
                <a:lnTo>
                  <a:pt x="685800" y="914400"/>
                </a:lnTo>
                <a:lnTo>
                  <a:pt x="1028700" y="914400"/>
                </a:lnTo>
                <a:lnTo>
                  <a:pt x="1028700" y="685800"/>
                </a:lnTo>
                <a:lnTo>
                  <a:pt x="1371600" y="685800"/>
                </a:lnTo>
                <a:lnTo>
                  <a:pt x="1371600" y="457200"/>
                </a:lnTo>
                <a:lnTo>
                  <a:pt x="1714500" y="457200"/>
                </a:lnTo>
                <a:lnTo>
                  <a:pt x="1714500" y="228600"/>
                </a:lnTo>
                <a:lnTo>
                  <a:pt x="2057400" y="228600"/>
                </a:lnTo>
                <a:lnTo>
                  <a:pt x="2057400" y="0"/>
                </a:lnTo>
                <a:lnTo>
                  <a:pt x="2628900" y="0"/>
                </a:lnTo>
              </a:path>
            </a:pathLst>
          </a:custGeom>
          <a:noFill/>
          <a:ln w="19050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87535" y="371475"/>
            <a:ext cx="416893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"/>
              </a:rPr>
              <a:t>Exponential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700212"/>
            <a:ext cx="442912" cy="442912"/>
          </a:xfrm>
          <a:custGeom>
            <a:avLst/>
            <a:gdLst/>
            <a:ahLst/>
            <a:cxnLst/>
            <a:rect l="0" t="0" r="0" b="0"/>
            <a:pathLst>
              <a:path w="442912" h="442912">
                <a:moveTo>
                  <a:pt x="14287" y="442912"/>
                </a:moveTo>
                <a:cubicBezTo>
                  <a:pt x="42736" y="442912"/>
                  <a:pt x="71184" y="442912"/>
                  <a:pt x="99633" y="414337"/>
                </a:cubicBezTo>
                <a:cubicBezTo>
                  <a:pt x="128081" y="442912"/>
                  <a:pt x="156530" y="442912"/>
                  <a:pt x="164116" y="442912"/>
                </a:cubicBezTo>
                <a:cubicBezTo>
                  <a:pt x="171702" y="442912"/>
                  <a:pt x="200150" y="442912"/>
                  <a:pt x="228600" y="414337"/>
                </a:cubicBezTo>
                <a:cubicBezTo>
                  <a:pt x="257049" y="442912"/>
                  <a:pt x="285496" y="442912"/>
                  <a:pt x="293084" y="442912"/>
                </a:cubicBezTo>
                <a:cubicBezTo>
                  <a:pt x="300669" y="442912"/>
                  <a:pt x="329117" y="442912"/>
                  <a:pt x="357566" y="414337"/>
                </a:cubicBezTo>
                <a:cubicBezTo>
                  <a:pt x="386015" y="442912"/>
                  <a:pt x="414463" y="442912"/>
                  <a:pt x="442912" y="442912"/>
                </a:cubicBezTo>
                <a:moveTo>
                  <a:pt x="14287" y="372427"/>
                </a:moveTo>
                <a:cubicBezTo>
                  <a:pt x="42736" y="372427"/>
                  <a:pt x="71184" y="372427"/>
                  <a:pt x="99633" y="343852"/>
                </a:cubicBezTo>
                <a:cubicBezTo>
                  <a:pt x="128081" y="372427"/>
                  <a:pt x="156530" y="372427"/>
                  <a:pt x="164116" y="372427"/>
                </a:cubicBezTo>
                <a:cubicBezTo>
                  <a:pt x="171702" y="372427"/>
                  <a:pt x="200150" y="372427"/>
                  <a:pt x="228600" y="343852"/>
                </a:cubicBezTo>
                <a:cubicBezTo>
                  <a:pt x="257049" y="372427"/>
                  <a:pt x="285496" y="372427"/>
                  <a:pt x="293084" y="372427"/>
                </a:cubicBezTo>
                <a:cubicBezTo>
                  <a:pt x="300669" y="372427"/>
                  <a:pt x="329117" y="372427"/>
                  <a:pt x="357566" y="343852"/>
                </a:cubicBezTo>
                <a:cubicBezTo>
                  <a:pt x="386015" y="372427"/>
                  <a:pt x="414463" y="372427"/>
                  <a:pt x="442912" y="372427"/>
                </a:cubicBezTo>
                <a:moveTo>
                  <a:pt x="0" y="0"/>
                </a:moveTo>
                <a:moveTo>
                  <a:pt x="43370" y="36343"/>
                </a:moveTo>
                <a:lnTo>
                  <a:pt x="43370" y="114046"/>
                </a:lnTo>
                <a:moveTo>
                  <a:pt x="0" y="0"/>
                </a:moveTo>
                <a:moveTo>
                  <a:pt x="17469" y="55769"/>
                </a:moveTo>
                <a:lnTo>
                  <a:pt x="23944" y="55769"/>
                </a:lnTo>
                <a:cubicBezTo>
                  <a:pt x="34673" y="55769"/>
                  <a:pt x="43370" y="47071"/>
                  <a:pt x="43370" y="36343"/>
                </a:cubicBezTo>
                <a:lnTo>
                  <a:pt x="43370" y="36343"/>
                </a:lnTo>
                <a:moveTo>
                  <a:pt x="69271" y="114045"/>
                </a:moveTo>
                <a:lnTo>
                  <a:pt x="17469" y="114045"/>
                </a:lnTo>
                <a:moveTo>
                  <a:pt x="0" y="0"/>
                </a:moveTo>
                <a:moveTo>
                  <a:pt x="134394" y="181563"/>
                </a:moveTo>
                <a:lnTo>
                  <a:pt x="134394" y="259266"/>
                </a:lnTo>
                <a:moveTo>
                  <a:pt x="0" y="0"/>
                </a:moveTo>
                <a:moveTo>
                  <a:pt x="108493" y="200988"/>
                </a:moveTo>
                <a:lnTo>
                  <a:pt x="114968" y="200988"/>
                </a:lnTo>
                <a:cubicBezTo>
                  <a:pt x="125697" y="200988"/>
                  <a:pt x="134394" y="192292"/>
                  <a:pt x="134394" y="181563"/>
                </a:cubicBezTo>
                <a:lnTo>
                  <a:pt x="134394" y="181563"/>
                </a:lnTo>
                <a:moveTo>
                  <a:pt x="160294" y="259266"/>
                </a:moveTo>
                <a:lnTo>
                  <a:pt x="108493" y="259266"/>
                </a:lnTo>
                <a:moveTo>
                  <a:pt x="0" y="0"/>
                </a:moveTo>
                <a:moveTo>
                  <a:pt x="228129" y="181563"/>
                </a:moveTo>
                <a:lnTo>
                  <a:pt x="228129" y="259266"/>
                </a:lnTo>
                <a:moveTo>
                  <a:pt x="0" y="0"/>
                </a:moveTo>
                <a:moveTo>
                  <a:pt x="202229" y="200988"/>
                </a:moveTo>
                <a:lnTo>
                  <a:pt x="208704" y="200988"/>
                </a:lnTo>
                <a:cubicBezTo>
                  <a:pt x="219433" y="200988"/>
                  <a:pt x="228129" y="192292"/>
                  <a:pt x="228129" y="181563"/>
                </a:cubicBezTo>
                <a:lnTo>
                  <a:pt x="228129" y="181563"/>
                </a:lnTo>
                <a:moveTo>
                  <a:pt x="254031" y="259266"/>
                </a:moveTo>
                <a:lnTo>
                  <a:pt x="202229" y="259266"/>
                </a:lnTo>
                <a:moveTo>
                  <a:pt x="0" y="0"/>
                </a:moveTo>
                <a:moveTo>
                  <a:pt x="319622" y="36343"/>
                </a:moveTo>
                <a:lnTo>
                  <a:pt x="319622" y="114046"/>
                </a:lnTo>
                <a:moveTo>
                  <a:pt x="0" y="0"/>
                </a:moveTo>
                <a:moveTo>
                  <a:pt x="293722" y="55769"/>
                </a:moveTo>
                <a:lnTo>
                  <a:pt x="300197" y="55769"/>
                </a:lnTo>
                <a:cubicBezTo>
                  <a:pt x="310926" y="55769"/>
                  <a:pt x="319622" y="47071"/>
                  <a:pt x="319622" y="36343"/>
                </a:cubicBezTo>
                <a:lnTo>
                  <a:pt x="319622" y="36343"/>
                </a:lnTo>
                <a:moveTo>
                  <a:pt x="345525" y="114045"/>
                </a:moveTo>
                <a:lnTo>
                  <a:pt x="293722" y="114045"/>
                </a:lnTo>
                <a:moveTo>
                  <a:pt x="107371" y="62244"/>
                </a:moveTo>
                <a:lnTo>
                  <a:pt x="107371" y="88145"/>
                </a:lnTo>
                <a:cubicBezTo>
                  <a:pt x="107371" y="102449"/>
                  <a:pt x="118967" y="114046"/>
                  <a:pt x="133272" y="114046"/>
                </a:cubicBezTo>
                <a:cubicBezTo>
                  <a:pt x="147576" y="114046"/>
                  <a:pt x="159173" y="102449"/>
                  <a:pt x="159173" y="88145"/>
                </a:cubicBezTo>
                <a:lnTo>
                  <a:pt x="159173" y="62244"/>
                </a:lnTo>
                <a:cubicBezTo>
                  <a:pt x="159173" y="47939"/>
                  <a:pt x="147576" y="36343"/>
                  <a:pt x="133272" y="36343"/>
                </a:cubicBezTo>
                <a:cubicBezTo>
                  <a:pt x="118967" y="36343"/>
                  <a:pt x="107371" y="47939"/>
                  <a:pt x="107371" y="62244"/>
                </a:cubicBezTo>
                <a:close/>
                <a:moveTo>
                  <a:pt x="17469" y="207464"/>
                </a:moveTo>
                <a:lnTo>
                  <a:pt x="17469" y="233364"/>
                </a:lnTo>
                <a:cubicBezTo>
                  <a:pt x="17469" y="247669"/>
                  <a:pt x="29066" y="259266"/>
                  <a:pt x="43370" y="259266"/>
                </a:cubicBezTo>
                <a:cubicBezTo>
                  <a:pt x="57675" y="259266"/>
                  <a:pt x="69271" y="247669"/>
                  <a:pt x="69271" y="233364"/>
                </a:cubicBezTo>
                <a:lnTo>
                  <a:pt x="69271" y="207464"/>
                </a:lnTo>
                <a:cubicBezTo>
                  <a:pt x="69271" y="193159"/>
                  <a:pt x="57675" y="181563"/>
                  <a:pt x="43370" y="181563"/>
                </a:cubicBezTo>
                <a:cubicBezTo>
                  <a:pt x="29066" y="181563"/>
                  <a:pt x="17469" y="193159"/>
                  <a:pt x="17469" y="207464"/>
                </a:cubicBezTo>
                <a:close/>
                <a:moveTo>
                  <a:pt x="293722" y="207464"/>
                </a:moveTo>
                <a:lnTo>
                  <a:pt x="293722" y="233364"/>
                </a:lnTo>
                <a:cubicBezTo>
                  <a:pt x="293722" y="247669"/>
                  <a:pt x="305318" y="259266"/>
                  <a:pt x="319622" y="259266"/>
                </a:cubicBezTo>
                <a:cubicBezTo>
                  <a:pt x="333927" y="259266"/>
                  <a:pt x="345525" y="247669"/>
                  <a:pt x="345525" y="233364"/>
                </a:cubicBezTo>
                <a:lnTo>
                  <a:pt x="345525" y="207464"/>
                </a:lnTo>
                <a:cubicBezTo>
                  <a:pt x="345525" y="193159"/>
                  <a:pt x="333927" y="181563"/>
                  <a:pt x="319622" y="181563"/>
                </a:cubicBezTo>
                <a:cubicBezTo>
                  <a:pt x="305318" y="181563"/>
                  <a:pt x="293722" y="193159"/>
                  <a:pt x="293722" y="207464"/>
                </a:cubicBezTo>
                <a:close/>
                <a:moveTo>
                  <a:pt x="387928" y="207464"/>
                </a:moveTo>
                <a:lnTo>
                  <a:pt x="387928" y="233364"/>
                </a:lnTo>
                <a:cubicBezTo>
                  <a:pt x="387928" y="247669"/>
                  <a:pt x="399524" y="259266"/>
                  <a:pt x="413828" y="259266"/>
                </a:cubicBezTo>
                <a:cubicBezTo>
                  <a:pt x="428133" y="259266"/>
                  <a:pt x="439731" y="247669"/>
                  <a:pt x="439731" y="233364"/>
                </a:cubicBezTo>
                <a:lnTo>
                  <a:pt x="439731" y="207464"/>
                </a:lnTo>
                <a:cubicBezTo>
                  <a:pt x="439731" y="193159"/>
                  <a:pt x="428133" y="181563"/>
                  <a:pt x="413828" y="181563"/>
                </a:cubicBezTo>
                <a:cubicBezTo>
                  <a:pt x="399524" y="181563"/>
                  <a:pt x="387928" y="193159"/>
                  <a:pt x="387928" y="207464"/>
                </a:cubicBezTo>
                <a:close/>
                <a:moveTo>
                  <a:pt x="199984" y="62244"/>
                </a:moveTo>
                <a:lnTo>
                  <a:pt x="199984" y="88145"/>
                </a:lnTo>
                <a:cubicBezTo>
                  <a:pt x="199984" y="102449"/>
                  <a:pt x="211580" y="114046"/>
                  <a:pt x="225887" y="114046"/>
                </a:cubicBezTo>
                <a:cubicBezTo>
                  <a:pt x="240191" y="114046"/>
                  <a:pt x="251787" y="102449"/>
                  <a:pt x="251787" y="88145"/>
                </a:cubicBezTo>
                <a:lnTo>
                  <a:pt x="251787" y="62244"/>
                </a:lnTo>
                <a:cubicBezTo>
                  <a:pt x="251787" y="47939"/>
                  <a:pt x="240191" y="36343"/>
                  <a:pt x="225887" y="36343"/>
                </a:cubicBezTo>
                <a:cubicBezTo>
                  <a:pt x="211580" y="36343"/>
                  <a:pt x="199984" y="47939"/>
                  <a:pt x="199984" y="62244"/>
                </a:cubicBezTo>
                <a:close/>
                <a:moveTo>
                  <a:pt x="387928" y="62244"/>
                </a:moveTo>
                <a:lnTo>
                  <a:pt x="387928" y="88145"/>
                </a:lnTo>
                <a:cubicBezTo>
                  <a:pt x="387928" y="102449"/>
                  <a:pt x="399524" y="114046"/>
                  <a:pt x="413828" y="114046"/>
                </a:cubicBezTo>
                <a:cubicBezTo>
                  <a:pt x="428133" y="114046"/>
                  <a:pt x="439731" y="102449"/>
                  <a:pt x="439731" y="88145"/>
                </a:cubicBezTo>
                <a:lnTo>
                  <a:pt x="439731" y="62244"/>
                </a:lnTo>
                <a:cubicBezTo>
                  <a:pt x="439731" y="47939"/>
                  <a:pt x="428133" y="36343"/>
                  <a:pt x="413828" y="36343"/>
                </a:cubicBezTo>
                <a:cubicBezTo>
                  <a:pt x="399524" y="36343"/>
                  <a:pt x="387928" y="47939"/>
                  <a:pt x="387928" y="62244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57800" y="2614612"/>
            <a:ext cx="442912" cy="442912"/>
          </a:xfrm>
          <a:custGeom>
            <a:avLst/>
            <a:gdLst/>
            <a:ahLst/>
            <a:cxnLst/>
            <a:rect l="0" t="0" r="0" b="0"/>
            <a:pathLst>
              <a:path w="442912" h="442912">
                <a:moveTo>
                  <a:pt x="130492" y="442912"/>
                </a:moveTo>
                <a:lnTo>
                  <a:pt x="320992" y="442912"/>
                </a:lnTo>
                <a:moveTo>
                  <a:pt x="130492" y="14287"/>
                </a:moveTo>
                <a:lnTo>
                  <a:pt x="320992" y="14287"/>
                </a:lnTo>
                <a:moveTo>
                  <a:pt x="187643" y="80010"/>
                </a:moveTo>
                <a:cubicBezTo>
                  <a:pt x="185538" y="80010"/>
                  <a:pt x="183832" y="78305"/>
                  <a:pt x="183832" y="76200"/>
                </a:cubicBezTo>
                <a:cubicBezTo>
                  <a:pt x="183832" y="74096"/>
                  <a:pt x="185538" y="72390"/>
                  <a:pt x="187643" y="72390"/>
                </a:cubicBezTo>
                <a:moveTo>
                  <a:pt x="187642" y="80010"/>
                </a:moveTo>
                <a:cubicBezTo>
                  <a:pt x="189746" y="80010"/>
                  <a:pt x="191452" y="78305"/>
                  <a:pt x="191452" y="76200"/>
                </a:cubicBezTo>
                <a:cubicBezTo>
                  <a:pt x="191452" y="74096"/>
                  <a:pt x="189746" y="72390"/>
                  <a:pt x="187642" y="72390"/>
                </a:cubicBezTo>
                <a:moveTo>
                  <a:pt x="263842" y="80010"/>
                </a:moveTo>
                <a:cubicBezTo>
                  <a:pt x="261739" y="80010"/>
                  <a:pt x="260032" y="78305"/>
                  <a:pt x="260032" y="76200"/>
                </a:cubicBezTo>
                <a:cubicBezTo>
                  <a:pt x="260032" y="74096"/>
                  <a:pt x="261739" y="72390"/>
                  <a:pt x="263842" y="72390"/>
                </a:cubicBezTo>
                <a:moveTo>
                  <a:pt x="263842" y="80010"/>
                </a:moveTo>
                <a:cubicBezTo>
                  <a:pt x="265945" y="80010"/>
                  <a:pt x="267652" y="78305"/>
                  <a:pt x="267652" y="76200"/>
                </a:cubicBezTo>
                <a:cubicBezTo>
                  <a:pt x="267652" y="74096"/>
                  <a:pt x="265945" y="72390"/>
                  <a:pt x="263842" y="72390"/>
                </a:cubicBezTo>
                <a:moveTo>
                  <a:pt x="187643" y="156210"/>
                </a:moveTo>
                <a:cubicBezTo>
                  <a:pt x="185538" y="156210"/>
                  <a:pt x="183832" y="154505"/>
                  <a:pt x="183832" y="152400"/>
                </a:cubicBezTo>
                <a:cubicBezTo>
                  <a:pt x="183832" y="150296"/>
                  <a:pt x="185538" y="148590"/>
                  <a:pt x="187643" y="148590"/>
                </a:cubicBezTo>
                <a:moveTo>
                  <a:pt x="187642" y="156210"/>
                </a:moveTo>
                <a:cubicBezTo>
                  <a:pt x="189746" y="156210"/>
                  <a:pt x="191452" y="154505"/>
                  <a:pt x="191452" y="152400"/>
                </a:cubicBezTo>
                <a:cubicBezTo>
                  <a:pt x="191452" y="150296"/>
                  <a:pt x="189746" y="148590"/>
                  <a:pt x="187642" y="148590"/>
                </a:cubicBezTo>
                <a:moveTo>
                  <a:pt x="263842" y="156210"/>
                </a:moveTo>
                <a:cubicBezTo>
                  <a:pt x="261739" y="156210"/>
                  <a:pt x="260032" y="154505"/>
                  <a:pt x="260032" y="152400"/>
                </a:cubicBezTo>
                <a:cubicBezTo>
                  <a:pt x="260032" y="150296"/>
                  <a:pt x="261739" y="148590"/>
                  <a:pt x="263842" y="148590"/>
                </a:cubicBezTo>
                <a:moveTo>
                  <a:pt x="263842" y="156210"/>
                </a:moveTo>
                <a:cubicBezTo>
                  <a:pt x="265945" y="156210"/>
                  <a:pt x="267652" y="154505"/>
                  <a:pt x="267652" y="152400"/>
                </a:cubicBezTo>
                <a:cubicBezTo>
                  <a:pt x="267652" y="150296"/>
                  <a:pt x="265945" y="148590"/>
                  <a:pt x="263842" y="148590"/>
                </a:cubicBezTo>
                <a:moveTo>
                  <a:pt x="187643" y="232410"/>
                </a:moveTo>
                <a:cubicBezTo>
                  <a:pt x="185538" y="232410"/>
                  <a:pt x="183832" y="230705"/>
                  <a:pt x="183832" y="228600"/>
                </a:cubicBezTo>
                <a:cubicBezTo>
                  <a:pt x="183832" y="226496"/>
                  <a:pt x="185538" y="224789"/>
                  <a:pt x="187643" y="224789"/>
                </a:cubicBezTo>
                <a:moveTo>
                  <a:pt x="187642" y="232410"/>
                </a:moveTo>
                <a:cubicBezTo>
                  <a:pt x="189746" y="232410"/>
                  <a:pt x="191452" y="230705"/>
                  <a:pt x="191452" y="228600"/>
                </a:cubicBezTo>
                <a:cubicBezTo>
                  <a:pt x="191452" y="226496"/>
                  <a:pt x="189746" y="224789"/>
                  <a:pt x="187642" y="224789"/>
                </a:cubicBezTo>
                <a:moveTo>
                  <a:pt x="263842" y="232410"/>
                </a:moveTo>
                <a:cubicBezTo>
                  <a:pt x="261739" y="232410"/>
                  <a:pt x="260032" y="230705"/>
                  <a:pt x="260032" y="228600"/>
                </a:cubicBezTo>
                <a:cubicBezTo>
                  <a:pt x="260032" y="226496"/>
                  <a:pt x="261739" y="224789"/>
                  <a:pt x="263842" y="224789"/>
                </a:cubicBezTo>
                <a:moveTo>
                  <a:pt x="263842" y="232410"/>
                </a:moveTo>
                <a:cubicBezTo>
                  <a:pt x="265945" y="232410"/>
                  <a:pt x="267652" y="230705"/>
                  <a:pt x="267652" y="228600"/>
                </a:cubicBezTo>
                <a:cubicBezTo>
                  <a:pt x="267652" y="226496"/>
                  <a:pt x="265945" y="224789"/>
                  <a:pt x="263842" y="224789"/>
                </a:cubicBezTo>
                <a:moveTo>
                  <a:pt x="187643" y="308610"/>
                </a:moveTo>
                <a:cubicBezTo>
                  <a:pt x="185538" y="308610"/>
                  <a:pt x="183832" y="306905"/>
                  <a:pt x="183832" y="304800"/>
                </a:cubicBezTo>
                <a:cubicBezTo>
                  <a:pt x="183832" y="302696"/>
                  <a:pt x="185538" y="300989"/>
                  <a:pt x="187643" y="300989"/>
                </a:cubicBezTo>
                <a:moveTo>
                  <a:pt x="187642" y="308610"/>
                </a:moveTo>
                <a:cubicBezTo>
                  <a:pt x="189746" y="308610"/>
                  <a:pt x="191452" y="306905"/>
                  <a:pt x="191452" y="304800"/>
                </a:cubicBezTo>
                <a:cubicBezTo>
                  <a:pt x="191452" y="302696"/>
                  <a:pt x="189746" y="300989"/>
                  <a:pt x="187642" y="300989"/>
                </a:cubicBezTo>
                <a:moveTo>
                  <a:pt x="263842" y="308610"/>
                </a:moveTo>
                <a:cubicBezTo>
                  <a:pt x="261739" y="308610"/>
                  <a:pt x="260032" y="306905"/>
                  <a:pt x="260032" y="304800"/>
                </a:cubicBezTo>
                <a:cubicBezTo>
                  <a:pt x="260032" y="302696"/>
                  <a:pt x="261739" y="300989"/>
                  <a:pt x="263842" y="300989"/>
                </a:cubicBezTo>
                <a:moveTo>
                  <a:pt x="263842" y="308610"/>
                </a:moveTo>
                <a:cubicBezTo>
                  <a:pt x="265945" y="308610"/>
                  <a:pt x="267652" y="306905"/>
                  <a:pt x="267652" y="304800"/>
                </a:cubicBezTo>
                <a:cubicBezTo>
                  <a:pt x="267652" y="302696"/>
                  <a:pt x="265945" y="300989"/>
                  <a:pt x="263842" y="300989"/>
                </a:cubicBezTo>
                <a:moveTo>
                  <a:pt x="187643" y="384810"/>
                </a:moveTo>
                <a:cubicBezTo>
                  <a:pt x="185538" y="384810"/>
                  <a:pt x="183832" y="383105"/>
                  <a:pt x="183832" y="381000"/>
                </a:cubicBezTo>
                <a:cubicBezTo>
                  <a:pt x="183832" y="378896"/>
                  <a:pt x="185538" y="377189"/>
                  <a:pt x="187643" y="377189"/>
                </a:cubicBezTo>
                <a:moveTo>
                  <a:pt x="187642" y="384810"/>
                </a:moveTo>
                <a:cubicBezTo>
                  <a:pt x="189746" y="384810"/>
                  <a:pt x="191452" y="383105"/>
                  <a:pt x="191452" y="381000"/>
                </a:cubicBezTo>
                <a:cubicBezTo>
                  <a:pt x="191452" y="378896"/>
                  <a:pt x="189746" y="377189"/>
                  <a:pt x="187642" y="377189"/>
                </a:cubicBezTo>
                <a:moveTo>
                  <a:pt x="263842" y="384810"/>
                </a:moveTo>
                <a:cubicBezTo>
                  <a:pt x="261739" y="384810"/>
                  <a:pt x="260032" y="383105"/>
                  <a:pt x="260032" y="381000"/>
                </a:cubicBezTo>
                <a:cubicBezTo>
                  <a:pt x="260032" y="378896"/>
                  <a:pt x="261739" y="377189"/>
                  <a:pt x="263842" y="377189"/>
                </a:cubicBezTo>
                <a:moveTo>
                  <a:pt x="263842" y="384810"/>
                </a:moveTo>
                <a:cubicBezTo>
                  <a:pt x="265945" y="384810"/>
                  <a:pt x="267652" y="383105"/>
                  <a:pt x="267652" y="381000"/>
                </a:cubicBezTo>
                <a:cubicBezTo>
                  <a:pt x="267652" y="378896"/>
                  <a:pt x="265945" y="377189"/>
                  <a:pt x="263842" y="377189"/>
                </a:cubicBezTo>
                <a:moveTo>
                  <a:pt x="0" y="0"/>
                </a:moveTo>
                <a:moveTo>
                  <a:pt x="111442" y="285750"/>
                </a:moveTo>
                <a:lnTo>
                  <a:pt x="14287" y="321944"/>
                </a:lnTo>
                <a:moveTo>
                  <a:pt x="0" y="0"/>
                </a:moveTo>
                <a:moveTo>
                  <a:pt x="111442" y="171449"/>
                </a:moveTo>
                <a:lnTo>
                  <a:pt x="14287" y="135254"/>
                </a:lnTo>
                <a:moveTo>
                  <a:pt x="336232" y="228600"/>
                </a:moveTo>
                <a:lnTo>
                  <a:pt x="442541" y="228600"/>
                </a:lnTo>
                <a:moveTo>
                  <a:pt x="0" y="0"/>
                </a:moveTo>
                <a:moveTo>
                  <a:pt x="395287" y="180975"/>
                </a:moveTo>
                <a:lnTo>
                  <a:pt x="442912" y="228600"/>
                </a:lnTo>
                <a:lnTo>
                  <a:pt x="395287" y="2762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24300" y="3543300"/>
            <a:ext cx="381000" cy="428625"/>
          </a:xfrm>
          <a:custGeom>
            <a:avLst/>
            <a:gdLst/>
            <a:ahLst/>
            <a:cxnLst/>
            <a:rect l="0" t="0" r="0" b="0"/>
            <a:pathLst>
              <a:path w="381000" h="428625">
                <a:moveTo>
                  <a:pt x="57150" y="114300"/>
                </a:moveTo>
                <a:cubicBezTo>
                  <a:pt x="88712" y="114300"/>
                  <a:pt x="114300" y="88712"/>
                  <a:pt x="114300" y="57150"/>
                </a:cubicBezTo>
                <a:cubicBezTo>
                  <a:pt x="114300" y="25587"/>
                  <a:pt x="88712" y="0"/>
                  <a:pt x="57150" y="0"/>
                </a:cubicBezTo>
                <a:cubicBezTo>
                  <a:pt x="25587" y="0"/>
                  <a:pt x="0" y="25587"/>
                  <a:pt x="0" y="57150"/>
                </a:cubicBezTo>
                <a:cubicBezTo>
                  <a:pt x="0" y="88712"/>
                  <a:pt x="25587" y="114300"/>
                  <a:pt x="57150" y="114300"/>
                </a:cubicBezTo>
                <a:close/>
                <a:moveTo>
                  <a:pt x="57150" y="428625"/>
                </a:moveTo>
                <a:cubicBezTo>
                  <a:pt x="88712" y="428625"/>
                  <a:pt x="114300" y="403038"/>
                  <a:pt x="114300" y="371475"/>
                </a:cubicBezTo>
                <a:cubicBezTo>
                  <a:pt x="114300" y="339911"/>
                  <a:pt x="88712" y="314325"/>
                  <a:pt x="57150" y="314325"/>
                </a:cubicBezTo>
                <a:cubicBezTo>
                  <a:pt x="25587" y="314325"/>
                  <a:pt x="0" y="339911"/>
                  <a:pt x="0" y="371475"/>
                </a:cubicBezTo>
                <a:cubicBezTo>
                  <a:pt x="0" y="403038"/>
                  <a:pt x="25587" y="428625"/>
                  <a:pt x="57150" y="428625"/>
                </a:cubicBezTo>
                <a:close/>
                <a:moveTo>
                  <a:pt x="57150" y="114300"/>
                </a:moveTo>
                <a:lnTo>
                  <a:pt x="57150" y="314325"/>
                </a:lnTo>
                <a:moveTo>
                  <a:pt x="323850" y="428625"/>
                </a:moveTo>
                <a:cubicBezTo>
                  <a:pt x="355413" y="428625"/>
                  <a:pt x="381000" y="403038"/>
                  <a:pt x="381000" y="371475"/>
                </a:cubicBezTo>
                <a:cubicBezTo>
                  <a:pt x="381000" y="339911"/>
                  <a:pt x="355413" y="314325"/>
                  <a:pt x="323850" y="314325"/>
                </a:cubicBezTo>
                <a:cubicBezTo>
                  <a:pt x="292286" y="314325"/>
                  <a:pt x="266700" y="339911"/>
                  <a:pt x="266700" y="371475"/>
                </a:cubicBezTo>
                <a:cubicBezTo>
                  <a:pt x="266700" y="403038"/>
                  <a:pt x="292286" y="428625"/>
                  <a:pt x="323850" y="428625"/>
                </a:cubicBezTo>
                <a:close/>
                <a:moveTo>
                  <a:pt x="323850" y="248450"/>
                </a:moveTo>
                <a:cubicBezTo>
                  <a:pt x="319904" y="248450"/>
                  <a:pt x="316706" y="245251"/>
                  <a:pt x="316706" y="241306"/>
                </a:cubicBezTo>
                <a:cubicBezTo>
                  <a:pt x="316706" y="237361"/>
                  <a:pt x="319904" y="234162"/>
                  <a:pt x="323850" y="234162"/>
                </a:cubicBezTo>
                <a:moveTo>
                  <a:pt x="323850" y="248450"/>
                </a:moveTo>
                <a:cubicBezTo>
                  <a:pt x="327795" y="248450"/>
                  <a:pt x="330993" y="245251"/>
                  <a:pt x="330993" y="241306"/>
                </a:cubicBezTo>
                <a:cubicBezTo>
                  <a:pt x="330993" y="237361"/>
                  <a:pt x="327795" y="234162"/>
                  <a:pt x="323850" y="234162"/>
                </a:cubicBezTo>
                <a:moveTo>
                  <a:pt x="323850" y="156371"/>
                </a:moveTo>
                <a:cubicBezTo>
                  <a:pt x="319904" y="156371"/>
                  <a:pt x="316706" y="153173"/>
                  <a:pt x="316706" y="149228"/>
                </a:cubicBezTo>
                <a:cubicBezTo>
                  <a:pt x="316706" y="145282"/>
                  <a:pt x="319904" y="142084"/>
                  <a:pt x="323850" y="142084"/>
                </a:cubicBezTo>
                <a:moveTo>
                  <a:pt x="323850" y="156371"/>
                </a:moveTo>
                <a:cubicBezTo>
                  <a:pt x="327795" y="156371"/>
                  <a:pt x="330993" y="153173"/>
                  <a:pt x="330993" y="149228"/>
                </a:cubicBezTo>
                <a:cubicBezTo>
                  <a:pt x="330993" y="145282"/>
                  <a:pt x="327795" y="142084"/>
                  <a:pt x="323850" y="142084"/>
                </a:cubicBezTo>
                <a:moveTo>
                  <a:pt x="323850" y="64293"/>
                </a:moveTo>
                <a:cubicBezTo>
                  <a:pt x="319904" y="64293"/>
                  <a:pt x="316706" y="61095"/>
                  <a:pt x="316706" y="57150"/>
                </a:cubicBezTo>
                <a:cubicBezTo>
                  <a:pt x="316706" y="53204"/>
                  <a:pt x="319904" y="50006"/>
                  <a:pt x="323850" y="50006"/>
                </a:cubicBezTo>
                <a:moveTo>
                  <a:pt x="323850" y="64293"/>
                </a:moveTo>
                <a:cubicBezTo>
                  <a:pt x="327795" y="64293"/>
                  <a:pt x="330993" y="61095"/>
                  <a:pt x="330993" y="57150"/>
                </a:cubicBezTo>
                <a:cubicBezTo>
                  <a:pt x="330993" y="53204"/>
                  <a:pt x="327795" y="50006"/>
                  <a:pt x="323850" y="50006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7093" y="1814512"/>
            <a:ext cx="110895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Funnel Display"/>
              </a:rPr>
              <a:t>300 qubits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0467" y="2728912"/>
            <a:ext cx="150398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Funnel Display"/>
              </a:rPr>
              <a:t>Add one qubit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664" y="3643312"/>
            <a:ext cx="1219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Funnel Display"/>
              </a:rPr>
              <a:t>Add one 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7643" r="7643"/>
          <a:stretch>
            <a:fillRect/>
          </a:stretch>
        </p:blipFill>
        <p:spPr>
          <a:xfrm>
            <a:off x="0" y="0"/>
            <a:ext cx="4467225" cy="29432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1371640"/>
            <a:ext cx="4096121" cy="1127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4677"/>
              </a:lnSpc>
              <a:spcBef>
                <a:spcPts val="0"/>
              </a:spcBef>
            </a:pPr>
            <a:r>
              <a:rPr sz="3100" b="1">
                <a:solidFill>
                  <a:srgbClr val="FFFFFF"/>
                </a:solidFill>
                <a:latin typeface="Funnel Display"/>
              </a:rPr>
              <a:t>Decoherence: The</a:t>
            </a:r>
          </a:p>
          <a:p>
            <a:pPr algn="l">
              <a:lnSpc>
                <a:spcPct val="84677"/>
              </a:lnSpc>
              <a:spcBef>
                <a:spcPts val="0"/>
              </a:spcBef>
            </a:pPr>
            <a:r>
              <a:rPr sz="3100" b="1">
                <a:solidFill>
                  <a:srgbClr val="FFFFFF"/>
                </a:solidFill>
                <a:latin typeface="Funnel Display"/>
              </a:rPr>
              <a:t>Fragility of</a:t>
            </a:r>
          </a:p>
          <a:p>
            <a:pPr algn="l">
              <a:lnSpc>
                <a:spcPct val="84677"/>
              </a:lnSpc>
              <a:spcBef>
                <a:spcPts val="0"/>
              </a:spcBef>
            </a:pPr>
            <a:r>
              <a:rPr sz="3100" b="1">
                <a:solidFill>
                  <a:srgbClr val="FFFFFF"/>
                </a:solidFill>
                <a:latin typeface="Funnel Display"/>
              </a:rPr>
              <a:t>Quantum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714625"/>
            <a:ext cx="3571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Keeping the quantum world quiet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409950"/>
            <a:ext cx="70617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Qubits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8025" y="3409950"/>
            <a:ext cx="2704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Requires extreme cooling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5525" y="3409950"/>
            <a:ext cx="167524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Error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8025" y="3724275"/>
            <a:ext cx="2771747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Requires extreme cooling (colder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than outer space)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5525" y="3724275"/>
            <a:ext cx="2803579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Error correction is a major field of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525" y="3724275"/>
            <a:ext cx="3044342" cy="952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Qubits are extremely sensitive. Heat,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vibration, or electromagnetic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interference can cause them to lose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their quantum properties—a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200" b="0">
                <a:solidFill>
                  <a:srgbClr val="FFFFFF"/>
                </a:solidFill>
                <a:latin typeface="Funnel Display"/>
              </a:rPr>
              <a:t>process called decoherence.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57350" y="1957387"/>
            <a:ext cx="2743200" cy="2000250"/>
          </a:xfrm>
          <a:custGeom>
            <a:avLst/>
            <a:gdLst/>
            <a:ahLst/>
            <a:cxnLst/>
            <a:rect l="0" t="0" r="0" b="0"/>
            <a:pathLst>
              <a:path w="2743200" h="2000250">
                <a:moveTo>
                  <a:pt x="2743200" y="1809750"/>
                </a:moveTo>
                <a:cubicBezTo>
                  <a:pt x="2743200" y="1914963"/>
                  <a:pt x="2657913" y="2000250"/>
                  <a:pt x="2552700" y="2000250"/>
                </a:cubicBezTo>
                <a:lnTo>
                  <a:pt x="190500" y="2000250"/>
                </a:lnTo>
                <a:cubicBezTo>
                  <a:pt x="85286" y="2000250"/>
                  <a:pt x="0" y="1914963"/>
                  <a:pt x="0" y="1809750"/>
                </a:cubicBezTo>
                <a:lnTo>
                  <a:pt x="0" y="306162"/>
                </a:lnTo>
                <a:cubicBezTo>
                  <a:pt x="0" y="242287"/>
                  <a:pt x="0" y="190500"/>
                  <a:pt x="0" y="190500"/>
                </a:cubicBezTo>
                <a:cubicBezTo>
                  <a:pt x="0" y="85286"/>
                  <a:pt x="85286" y="0"/>
                  <a:pt x="190500" y="0"/>
                </a:cubicBezTo>
                <a:lnTo>
                  <a:pt x="2743200" y="0"/>
                </a:lnTo>
                <a:lnTo>
                  <a:pt x="2743200" y="180975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57350" y="1957387"/>
            <a:ext cx="2743200" cy="2000250"/>
          </a:xfrm>
          <a:custGeom>
            <a:avLst/>
            <a:gdLst/>
            <a:ahLst/>
            <a:cxnLst/>
            <a:rect l="0" t="0" r="0" b="0"/>
            <a:pathLst>
              <a:path w="2743200" h="2000250">
                <a:moveTo>
                  <a:pt x="0" y="190500"/>
                </a:moveTo>
                <a:cubicBezTo>
                  <a:pt x="0" y="85289"/>
                  <a:pt x="85289" y="0"/>
                  <a:pt x="190500" y="0"/>
                </a:cubicBezTo>
                <a:lnTo>
                  <a:pt x="1943100" y="0"/>
                </a:lnTo>
                <a:moveTo>
                  <a:pt x="2743200" y="800100"/>
                </a:moveTo>
                <a:cubicBezTo>
                  <a:pt x="2638129" y="800100"/>
                  <a:pt x="2534087" y="779405"/>
                  <a:pt x="2437015" y="739196"/>
                </a:cubicBezTo>
                <a:cubicBezTo>
                  <a:pt x="2339942" y="698987"/>
                  <a:pt x="2251740" y="640052"/>
                  <a:pt x="2177443" y="565756"/>
                </a:cubicBezTo>
                <a:cubicBezTo>
                  <a:pt x="2103147" y="491460"/>
                  <a:pt x="2044212" y="403258"/>
                  <a:pt x="2004003" y="306184"/>
                </a:cubicBezTo>
                <a:cubicBezTo>
                  <a:pt x="1963794" y="209112"/>
                  <a:pt x="1943100" y="105070"/>
                  <a:pt x="1943100" y="0"/>
                </a:cubicBezTo>
                <a:lnTo>
                  <a:pt x="2743200" y="0"/>
                </a:lnTo>
                <a:lnTo>
                  <a:pt x="2743200" y="190500"/>
                </a:lnTo>
                <a:moveTo>
                  <a:pt x="2743200" y="190500"/>
                </a:moveTo>
                <a:lnTo>
                  <a:pt x="2743200" y="1809750"/>
                </a:lnTo>
                <a:moveTo>
                  <a:pt x="0" y="1809750"/>
                </a:moveTo>
                <a:lnTo>
                  <a:pt x="0" y="190500"/>
                </a:lnTo>
                <a:moveTo>
                  <a:pt x="0" y="1809750"/>
                </a:moveTo>
                <a:cubicBezTo>
                  <a:pt x="0" y="1914960"/>
                  <a:pt x="85289" y="2000250"/>
                  <a:pt x="190500" y="2000250"/>
                </a:cubicBezTo>
                <a:lnTo>
                  <a:pt x="2552700" y="2000250"/>
                </a:lnTo>
                <a:cubicBezTo>
                  <a:pt x="2657910" y="2000250"/>
                  <a:pt x="2743200" y="1914960"/>
                  <a:pt x="2743200" y="1809750"/>
                </a:cubicBez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71650" y="2647950"/>
            <a:ext cx="1828800" cy="9525"/>
          </a:xfrm>
          <a:custGeom>
            <a:avLst/>
            <a:gdLst/>
            <a:ahLst/>
            <a:cxnLst/>
            <a:rect l="0" t="0" r="0" b="0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71650" y="2647950"/>
            <a:ext cx="1828800" cy="9525"/>
          </a:xfrm>
          <a:custGeom>
            <a:avLst/>
            <a:gdLst/>
            <a:ahLst/>
            <a:cxnLst/>
            <a:rect l="0" t="0" r="0" b="0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71650" y="2814637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57150"/>
                </a:moveTo>
                <a:cubicBezTo>
                  <a:pt x="0" y="88713"/>
                  <a:pt x="25586" y="114300"/>
                  <a:pt x="57150" y="114300"/>
                </a:cubicBezTo>
                <a:cubicBezTo>
                  <a:pt x="88713" y="114300"/>
                  <a:pt x="114300" y="88713"/>
                  <a:pt x="114300" y="57150"/>
                </a:cubicBezTo>
                <a:cubicBezTo>
                  <a:pt x="114300" y="25586"/>
                  <a:pt x="88713" y="0"/>
                  <a:pt x="57150" y="0"/>
                </a:cubicBezTo>
                <a:cubicBezTo>
                  <a:pt x="25586" y="0"/>
                  <a:pt x="0" y="25586"/>
                  <a:pt x="0" y="57150"/>
                </a:cubicBezTo>
              </a:path>
            </a:pathLst>
          </a:custGeom>
          <a:noFill/>
          <a:ln w="19050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1650" y="3214687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57150"/>
                </a:moveTo>
                <a:cubicBezTo>
                  <a:pt x="0" y="88713"/>
                  <a:pt x="25586" y="114300"/>
                  <a:pt x="57150" y="114300"/>
                </a:cubicBezTo>
                <a:cubicBezTo>
                  <a:pt x="88713" y="114300"/>
                  <a:pt x="114300" y="88713"/>
                  <a:pt x="114300" y="57150"/>
                </a:cubicBezTo>
                <a:cubicBezTo>
                  <a:pt x="114300" y="25586"/>
                  <a:pt x="88713" y="0"/>
                  <a:pt x="57150" y="0"/>
                </a:cubicBezTo>
                <a:cubicBezTo>
                  <a:pt x="25586" y="0"/>
                  <a:pt x="0" y="25586"/>
                  <a:pt x="0" y="57150"/>
                </a:cubicBezTo>
              </a:path>
            </a:pathLst>
          </a:custGeom>
          <a:noFill/>
          <a:ln w="19050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71650" y="3614737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57150"/>
                </a:moveTo>
                <a:cubicBezTo>
                  <a:pt x="0" y="88713"/>
                  <a:pt x="25586" y="114300"/>
                  <a:pt x="57150" y="114300"/>
                </a:cubicBezTo>
                <a:cubicBezTo>
                  <a:pt x="88713" y="114300"/>
                  <a:pt x="114300" y="88713"/>
                  <a:pt x="114300" y="57150"/>
                </a:cubicBezTo>
                <a:cubicBezTo>
                  <a:pt x="114300" y="25586"/>
                  <a:pt x="88713" y="0"/>
                  <a:pt x="57150" y="0"/>
                </a:cubicBezTo>
                <a:cubicBezTo>
                  <a:pt x="25586" y="0"/>
                  <a:pt x="0" y="25586"/>
                  <a:pt x="0" y="57150"/>
                </a:cubicBezTo>
              </a:path>
            </a:pathLst>
          </a:custGeom>
          <a:noFill/>
          <a:ln w="19050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43450" y="1957387"/>
            <a:ext cx="2743200" cy="2000250"/>
          </a:xfrm>
          <a:custGeom>
            <a:avLst/>
            <a:gdLst/>
            <a:ahLst/>
            <a:cxnLst/>
            <a:rect l="0" t="0" r="0" b="0"/>
            <a:pathLst>
              <a:path w="2743200" h="2000250">
                <a:moveTo>
                  <a:pt x="2743200" y="1809750"/>
                </a:moveTo>
                <a:cubicBezTo>
                  <a:pt x="2743200" y="1914963"/>
                  <a:pt x="2657913" y="2000250"/>
                  <a:pt x="2552700" y="2000250"/>
                </a:cubicBezTo>
                <a:lnTo>
                  <a:pt x="190500" y="2000250"/>
                </a:lnTo>
                <a:cubicBezTo>
                  <a:pt x="85286" y="2000250"/>
                  <a:pt x="0" y="1914963"/>
                  <a:pt x="0" y="1809750"/>
                </a:cubicBezTo>
                <a:lnTo>
                  <a:pt x="0" y="306162"/>
                </a:lnTo>
                <a:cubicBezTo>
                  <a:pt x="0" y="242287"/>
                  <a:pt x="0" y="190500"/>
                  <a:pt x="0" y="190500"/>
                </a:cubicBezTo>
                <a:cubicBezTo>
                  <a:pt x="0" y="85286"/>
                  <a:pt x="85286" y="0"/>
                  <a:pt x="190500" y="0"/>
                </a:cubicBezTo>
                <a:lnTo>
                  <a:pt x="2743200" y="0"/>
                </a:lnTo>
                <a:lnTo>
                  <a:pt x="2743200" y="180975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43450" y="1957387"/>
            <a:ext cx="2743200" cy="2000250"/>
          </a:xfrm>
          <a:custGeom>
            <a:avLst/>
            <a:gdLst/>
            <a:ahLst/>
            <a:cxnLst/>
            <a:rect l="0" t="0" r="0" b="0"/>
            <a:pathLst>
              <a:path w="2743200" h="2000250">
                <a:moveTo>
                  <a:pt x="0" y="190500"/>
                </a:moveTo>
                <a:cubicBezTo>
                  <a:pt x="0" y="85289"/>
                  <a:pt x="85289" y="0"/>
                  <a:pt x="190500" y="0"/>
                </a:cubicBezTo>
                <a:lnTo>
                  <a:pt x="1943100" y="0"/>
                </a:lnTo>
                <a:moveTo>
                  <a:pt x="2743200" y="800100"/>
                </a:moveTo>
                <a:cubicBezTo>
                  <a:pt x="2638129" y="800100"/>
                  <a:pt x="2534087" y="779405"/>
                  <a:pt x="2437015" y="739196"/>
                </a:cubicBezTo>
                <a:cubicBezTo>
                  <a:pt x="2339942" y="698987"/>
                  <a:pt x="2251740" y="640052"/>
                  <a:pt x="2177443" y="565756"/>
                </a:cubicBezTo>
                <a:cubicBezTo>
                  <a:pt x="2103147" y="491460"/>
                  <a:pt x="2044212" y="403258"/>
                  <a:pt x="2004003" y="306184"/>
                </a:cubicBezTo>
                <a:cubicBezTo>
                  <a:pt x="1963794" y="209112"/>
                  <a:pt x="1943100" y="105070"/>
                  <a:pt x="1943100" y="0"/>
                </a:cubicBezTo>
                <a:lnTo>
                  <a:pt x="2743200" y="0"/>
                </a:lnTo>
                <a:lnTo>
                  <a:pt x="2743200" y="190500"/>
                </a:lnTo>
                <a:moveTo>
                  <a:pt x="2743200" y="190500"/>
                </a:moveTo>
                <a:lnTo>
                  <a:pt x="2743200" y="1809750"/>
                </a:lnTo>
                <a:moveTo>
                  <a:pt x="0" y="1809750"/>
                </a:moveTo>
                <a:lnTo>
                  <a:pt x="0" y="190500"/>
                </a:lnTo>
                <a:moveTo>
                  <a:pt x="0" y="1809750"/>
                </a:moveTo>
                <a:cubicBezTo>
                  <a:pt x="0" y="1914960"/>
                  <a:pt x="85289" y="2000250"/>
                  <a:pt x="190500" y="2000250"/>
                </a:cubicBezTo>
                <a:lnTo>
                  <a:pt x="2552700" y="2000250"/>
                </a:lnTo>
                <a:cubicBezTo>
                  <a:pt x="2657910" y="2000250"/>
                  <a:pt x="2743200" y="1914960"/>
                  <a:pt x="2743200" y="1809750"/>
                </a:cubicBez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57750" y="2647950"/>
            <a:ext cx="1828800" cy="9525"/>
          </a:xfrm>
          <a:custGeom>
            <a:avLst/>
            <a:gdLst/>
            <a:ahLst/>
            <a:cxnLst/>
            <a:rect l="0" t="0" r="0" b="0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57750" y="2647950"/>
            <a:ext cx="1828800" cy="9525"/>
          </a:xfrm>
          <a:custGeom>
            <a:avLst/>
            <a:gdLst/>
            <a:ahLst/>
            <a:cxnLst/>
            <a:rect l="0" t="0" r="0" b="0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1A15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57750" y="2814637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14300" h="114300">
                <a:moveTo>
                  <a:pt x="0" y="57150"/>
                </a:moveTo>
                <a:cubicBezTo>
                  <a:pt x="0" y="88713"/>
                  <a:pt x="25586" y="114300"/>
                  <a:pt x="57150" y="114300"/>
                </a:cubicBezTo>
                <a:cubicBezTo>
                  <a:pt x="88713" y="114300"/>
                  <a:pt x="114300" y="88713"/>
                  <a:pt x="114300" y="57150"/>
                </a:cubicBezTo>
                <a:cubicBezTo>
                  <a:pt x="114300" y="25586"/>
                  <a:pt x="88713" y="0"/>
                  <a:pt x="57150" y="0"/>
                </a:cubicBezTo>
                <a:cubicBezTo>
                  <a:pt x="25586" y="0"/>
                  <a:pt x="0" y="25586"/>
                  <a:pt x="0" y="57150"/>
                </a:cubicBezTo>
              </a:path>
            </a:pathLst>
          </a:custGeom>
          <a:noFill/>
          <a:ln w="19050">
            <a:solidFill>
              <a:srgbClr val="7E5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672" y="371475"/>
            <a:ext cx="7736654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Funnel Display"/>
              </a:rPr>
              <a:t>Quantum Computers’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700" y="2185987"/>
            <a:ext cx="47511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Pros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2757487"/>
            <a:ext cx="1192359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"/>
              </a:rPr>
              <a:t>Drug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3157537"/>
            <a:ext cx="1075745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"/>
              </a:rPr>
              <a:t>Cryptography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3557587"/>
            <a:ext cx="1719738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"/>
              </a:rPr>
              <a:t>Complex Optimization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6382" y="2147831"/>
            <a:ext cx="440399" cy="371587"/>
          </a:xfrm>
          <a:custGeom>
            <a:avLst/>
            <a:gdLst/>
            <a:ahLst/>
            <a:cxnLst/>
            <a:rect l="0" t="0" r="0" b="0"/>
            <a:pathLst>
              <a:path w="440399" h="371587">
                <a:moveTo>
                  <a:pt x="8860" y="221988"/>
                </a:moveTo>
                <a:cubicBezTo>
                  <a:pt x="0" y="230965"/>
                  <a:pt x="0" y="245396"/>
                  <a:pt x="8860" y="254373"/>
                </a:cubicBezTo>
                <a:lnTo>
                  <a:pt x="119350" y="364863"/>
                </a:lnTo>
                <a:cubicBezTo>
                  <a:pt x="123639" y="369167"/>
                  <a:pt x="129466" y="371587"/>
                  <a:pt x="135542" y="371587"/>
                </a:cubicBezTo>
                <a:cubicBezTo>
                  <a:pt x="141619" y="371587"/>
                  <a:pt x="147446" y="369167"/>
                  <a:pt x="151735" y="364863"/>
                </a:cubicBezTo>
                <a:lnTo>
                  <a:pt x="433675" y="82923"/>
                </a:lnTo>
                <a:cubicBezTo>
                  <a:pt x="437979" y="78634"/>
                  <a:pt x="440399" y="72807"/>
                  <a:pt x="440399" y="66731"/>
                </a:cubicBezTo>
                <a:cubicBezTo>
                  <a:pt x="440399" y="60654"/>
                  <a:pt x="437979" y="54827"/>
                  <a:pt x="433675" y="50538"/>
                </a:cubicBezTo>
                <a:lnTo>
                  <a:pt x="389860" y="6723"/>
                </a:lnTo>
                <a:cubicBezTo>
                  <a:pt x="385571" y="2419"/>
                  <a:pt x="379744" y="0"/>
                  <a:pt x="373667" y="0"/>
                </a:cubicBezTo>
                <a:cubicBezTo>
                  <a:pt x="367591" y="0"/>
                  <a:pt x="361764" y="2419"/>
                  <a:pt x="357475" y="6723"/>
                </a:cubicBezTo>
                <a:lnTo>
                  <a:pt x="135542" y="228656"/>
                </a:lnTo>
                <a:lnTo>
                  <a:pt x="85060" y="178173"/>
                </a:lnTo>
                <a:cubicBezTo>
                  <a:pt x="76083" y="169313"/>
                  <a:pt x="61652" y="169313"/>
                  <a:pt x="52675" y="178173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800" y="2185987"/>
            <a:ext cx="53855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Funnel Display"/>
              </a:rPr>
              <a:t>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400" y="2757487"/>
            <a:ext cx="1315818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"/>
              </a:rPr>
              <a:t>Not for Browsing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0706" y="2087244"/>
            <a:ext cx="426086" cy="426086"/>
          </a:xfrm>
          <a:custGeom>
            <a:avLst/>
            <a:gdLst/>
            <a:ahLst/>
            <a:cxnLst/>
            <a:rect l="0" t="0" r="0" b="0"/>
            <a:pathLst>
              <a:path w="426086" h="426086">
                <a:moveTo>
                  <a:pt x="127318" y="213043"/>
                </a:moveTo>
                <a:lnTo>
                  <a:pt x="7436" y="332925"/>
                </a:lnTo>
                <a:cubicBezTo>
                  <a:pt x="0" y="340364"/>
                  <a:pt x="0" y="352422"/>
                  <a:pt x="7436" y="359861"/>
                </a:cubicBezTo>
                <a:lnTo>
                  <a:pt x="66225" y="418650"/>
                </a:lnTo>
                <a:cubicBezTo>
                  <a:pt x="73664" y="426086"/>
                  <a:pt x="85722" y="426086"/>
                  <a:pt x="93161" y="418650"/>
                </a:cubicBezTo>
                <a:lnTo>
                  <a:pt x="213043" y="298768"/>
                </a:lnTo>
                <a:lnTo>
                  <a:pt x="332925" y="418650"/>
                </a:lnTo>
                <a:cubicBezTo>
                  <a:pt x="340364" y="426086"/>
                  <a:pt x="352422" y="426086"/>
                  <a:pt x="359861" y="418650"/>
                </a:cubicBezTo>
                <a:lnTo>
                  <a:pt x="418650" y="359861"/>
                </a:lnTo>
                <a:cubicBezTo>
                  <a:pt x="426086" y="352422"/>
                  <a:pt x="426086" y="340364"/>
                  <a:pt x="418650" y="332925"/>
                </a:cubicBezTo>
                <a:lnTo>
                  <a:pt x="298768" y="213043"/>
                </a:lnTo>
                <a:lnTo>
                  <a:pt x="418650" y="93161"/>
                </a:lnTo>
                <a:cubicBezTo>
                  <a:pt x="426086" y="85722"/>
                  <a:pt x="426086" y="73664"/>
                  <a:pt x="418650" y="66225"/>
                </a:cubicBezTo>
                <a:lnTo>
                  <a:pt x="359861" y="7436"/>
                </a:lnTo>
                <a:cubicBezTo>
                  <a:pt x="352422" y="0"/>
                  <a:pt x="340364" y="0"/>
                  <a:pt x="332925" y="7436"/>
                </a:cubicBezTo>
                <a:lnTo>
                  <a:pt x="213043" y="127318"/>
                </a:lnTo>
                <a:lnTo>
                  <a:pt x="93161" y="7436"/>
                </a:lnTo>
                <a:cubicBezTo>
                  <a:pt x="85722" y="0"/>
                  <a:pt x="73664" y="0"/>
                  <a:pt x="66225" y="7436"/>
                </a:cubicBezTo>
                <a:lnTo>
                  <a:pt x="7436" y="66225"/>
                </a:lnTo>
                <a:cubicBezTo>
                  <a:pt x="0" y="73664"/>
                  <a:pt x="0" y="85722"/>
                  <a:pt x="7436" y="9316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15007" b="15007"/>
          <a:stretch>
            <a:fillRect/>
          </a:stretch>
        </p:blipFill>
        <p:spPr>
          <a:xfrm>
            <a:off x="0" y="2847927"/>
            <a:ext cx="9144000" cy="3571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273201"/>
            <a:ext cx="84594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"/>
              </a:rPr>
              <a:t>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581025"/>
            <a:ext cx="6267363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Funnel Display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1495425"/>
            <a:ext cx="6305482" cy="914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From theory to practical quantum advantage: Future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implications include unbreakable encryption, revolutionary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drug discovery, and solving complex optimization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Funnel Display"/>
              </a:rPr>
              <a:t>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2295525"/>
            <a:ext cx="0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Funnel Display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388" r="38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56382" y="1714500"/>
            <a:ext cx="4231224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Funnel Display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6241" y="2571750"/>
            <a:ext cx="6171527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Funnel Display"/>
              </a:rPr>
              <a:t>Thank you for exploring the world of qubits with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800" b="1">
                <a:solidFill>
                  <a:srgbClr val="FFFFFF"/>
                </a:solidFill>
                <a:latin typeface="Funnel Display"/>
              </a:rPr>
              <a:t>us. We hope this introduction has sparked your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800" b="1">
                <a:solidFill>
                  <a:srgbClr val="FFFFFF"/>
                </a:solidFill>
                <a:latin typeface="Funnel Display"/>
              </a:rPr>
              <a:t>curiosity about the quantum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764" y="4023182"/>
            <a:ext cx="642996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0">
                <a:solidFill>
                  <a:srgbClr val="FFFFFF"/>
                </a:solidFill>
                <a:latin typeface="Funnel Display"/>
              </a:rPr>
              <a:t>MADE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0">
                <a:solidFill>
                  <a:srgbClr val="FFFFFF"/>
                </a:solidFill>
                <a:latin typeface="Funnel Display"/>
              </a:rPr>
              <a:t>26BCE5277, 26BCE5208, 26BCE5217, 26BCE5211, 26BCE5215,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0">
                <a:solidFill>
                  <a:srgbClr val="FFFFFF"/>
                </a:solidFill>
                <a:latin typeface="Funnel Display"/>
              </a:rPr>
              <a:t>26BCE5294, 26BCE5288, 26BCE5238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97DCD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The World of the Qubit</dc:title>
  <cp:lastModifiedBy/>
  <cp:revision>1</cp:revision>
  <dcterms:modified xsi:type="dcterms:W3CDTF">2026-10-27T17:14:12Z</dcterms:modified>
  <dcterms:created xsi:type="dcterms:W3CDTF">2026-10-27T17:14:12Z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